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atabase" id="{9142587f-1367-d26a-c436-8c649183a2bb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Cover. Say what this deck covers and that every detail comes from the repository.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Supabase replaces a custom backend for CRUD.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 this on a whiteboard if asked.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 the README count before the interview.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Snapshot columns are a deliberate denormalization.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candid about the orders policy.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"how would you optimize queries" with this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trade-offs.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82296" cy="566928"/>
          </a:xfrm>
          <a:prstGeom prst="rect">
            <a:avLst/>
          </a:prstGeom>
          <a:solidFill>
            <a:srgbClr val="1771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6272"/>
                </a:solidFill>
              </a:rPr>
              <a:t>Database and Supabase  |  Sasi Arts  |  P. Bharath Kumar  |  2400030010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T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82296" cy="566928"/>
          </a:xfrm>
          <a:prstGeom prst="rect">
            <a:avLst/>
          </a:prstGeom>
          <a:solidFill>
            <a:srgbClr val="17714A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6272"/>
                </a:solidFill>
              </a:rPr>
              <a:t>Database and Supabase  |  Sasi Arts  |  P. Bharath Kumar  |  2400030010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7714A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8FB0FF"/>
                </a:solidFill>
              </a:rPr>
              <a:t>SASI ARTS · INTERVIEW DEEP-DIVE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28016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2F4F7"/>
                </a:solidFill>
              </a:rPr>
              <a:t>Database and Supabase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6517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D0DA"/>
                </a:solidFill>
              </a:rPr>
              <a:t>PostgreSQL schema, row-level security, storage and queries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47472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</a:rPr>
              <a:t>What Supabase provides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</a:rPr>
              <a:t>Entity relationships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</a:rPr>
              <a:t>All 15 tables by domain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</a:rPr>
              <a:t>Orders and order items model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</a:rPr>
              <a:t>Row-level security policies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</a:rPr>
              <a:t>Queries, indexes and optimization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1264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B0FF"/>
                </a:solidFill>
              </a:rPr>
              <a:t>P. Bharath Kumar  ·  Student ID 2400030010  ·  sasi-arts.vercel.app  ·  github.com/bharathkumar1904/sasi-arts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Supabase provides here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575304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80160"/>
            <a:ext cx="3575304" cy="64008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371600"/>
            <a:ext cx="3429000" cy="224942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2457D6"/>
                </a:solidFill>
              </a:rPr>
              <a:t>PostgreSQL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15 relational tables created by database/schema.sql.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4306824" y="1280160"/>
            <a:ext cx="3575304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06824" y="1280160"/>
            <a:ext cx="3575304" cy="64008"/>
          </a:xfrm>
          <a:prstGeom prst="rect">
            <a:avLst/>
          </a:prstGeom>
          <a:solidFill>
            <a:srgbClr val="B8520A"/>
          </a:solidFill>
          <a:ln w="12700">
            <a:solidFill>
              <a:srgbClr val="B8520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379976" y="1371600"/>
            <a:ext cx="3429000" cy="224942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B8520A"/>
                </a:solidFill>
              </a:rPr>
              <a:t>Auto REST API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Browser calls PostgREST URLs such as orders?id=eq.&lt;id&gt;&amp;limit=1 with apikey and Bearer headers.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8065008" y="1280160"/>
            <a:ext cx="3575304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65008" y="1280160"/>
            <a:ext cx="3575304" cy="6400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38160" y="1371600"/>
            <a:ext cx="3429000" cy="224942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6B3FA0"/>
                </a:solidFill>
              </a:rPr>
              <a:t>Auth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Admin signs in with email and password; the JWT is sent on admin requests.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3575304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840480"/>
            <a:ext cx="3575304" cy="64008"/>
          </a:xfrm>
          <a:prstGeom prst="rect">
            <a:avLst/>
          </a:prstGeom>
          <a:solidFill>
            <a:srgbClr val="17714A"/>
          </a:solidFill>
          <a:ln w="12700">
            <a:solidFill>
              <a:srgbClr val="17714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" y="3931920"/>
            <a:ext cx="3429000" cy="224942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17714A"/>
                </a:solidFill>
              </a:rPr>
              <a:t>Storage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Public "products" bucket for product images and customer photos (database/storage.sql).</a:t>
            </a:r>
            <a:endParaRPr lang="en-US" sz="2300" dirty="0"/>
          </a:p>
        </p:txBody>
      </p:sp>
      <p:sp>
        <p:nvSpPr>
          <p:cNvPr id="15" name="Shape 13"/>
          <p:cNvSpPr/>
          <p:nvPr/>
        </p:nvSpPr>
        <p:spPr>
          <a:xfrm>
            <a:off x="4306824" y="3840480"/>
            <a:ext cx="3575304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06824" y="3840480"/>
            <a:ext cx="3575304" cy="64008"/>
          </a:xfrm>
          <a:prstGeom prst="rect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379976" y="3931920"/>
            <a:ext cx="3429000" cy="224942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B3261E"/>
                </a:solidFill>
              </a:rPr>
              <a:t>Row-level security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Policies decide what anonymous visitors and the admin can read or write.</a:t>
            </a:r>
            <a:endParaRPr lang="en-US" sz="2300" dirty="0"/>
          </a:p>
        </p:txBody>
      </p:sp>
      <p:sp>
        <p:nvSpPr>
          <p:cNvPr id="18" name="Shape 16"/>
          <p:cNvSpPr/>
          <p:nvPr/>
        </p:nvSpPr>
        <p:spPr>
          <a:xfrm>
            <a:off x="8065008" y="3840480"/>
            <a:ext cx="3575304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65008" y="3840480"/>
            <a:ext cx="3575304" cy="64008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138160" y="3931920"/>
            <a:ext cx="3429000" cy="224942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2457D6"/>
                </a:solidFill>
              </a:rPr>
              <a:t>Why chosen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Free tier, real SQL, auth and storage in one service, no server code to write for CRUD.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relationships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575304" cy="2051812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80160"/>
            <a:ext cx="3575304" cy="64008"/>
          </a:xfrm>
          <a:prstGeom prst="rect">
            <a:avLst/>
          </a:prstGeom>
          <a:solidFill>
            <a:srgbClr val="B8520A"/>
          </a:solidFill>
          <a:ln w="12700">
            <a:solidFill>
              <a:srgbClr val="B8520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371600"/>
            <a:ext cx="3429000" cy="1923796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B8520A"/>
                </a:solidFill>
              </a:rPr>
              <a:t>orders</a:t>
            </a:r>
            <a:endParaRPr lang="en-US" sz="2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800" dirty="0">
                <a:solidFill>
                  <a:srgbClr val="161B22"/>
                </a:solidFill>
              </a:rPr>
              <a:t>id (TEXT, ORD-...), customer_id → customers, address fields, subtotal, shipping, tax, total, payment_id, payment_status, status 0-4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306824" y="1280160"/>
            <a:ext cx="3575304" cy="2051812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06824" y="1280160"/>
            <a:ext cx="3575304" cy="64008"/>
          </a:xfrm>
          <a:prstGeom prst="rect">
            <a:avLst/>
          </a:prstGeom>
          <a:solidFill>
            <a:srgbClr val="B8520A"/>
          </a:solidFill>
          <a:ln w="12700">
            <a:solidFill>
              <a:srgbClr val="B8520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379976" y="1371600"/>
            <a:ext cx="3429000" cy="1923796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B8520A"/>
                </a:solidFill>
              </a:rPr>
              <a:t>order_items</a:t>
            </a:r>
            <a:endParaRPr lang="en-US" sz="2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800" dirty="0">
                <a:solidFill>
                  <a:srgbClr val="161B22"/>
                </a:solidFill>
              </a:rPr>
              <a:t>order_id → orders (ON DELETE CASCADE), product_id → products, product_name, product_price, quantity, customization (JSONB), image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065008" y="1280160"/>
            <a:ext cx="3575304" cy="2051812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65008" y="1280160"/>
            <a:ext cx="3575304" cy="64008"/>
          </a:xfrm>
          <a:prstGeom prst="rect">
            <a:avLst/>
          </a:prstGeom>
          <a:solidFill>
            <a:srgbClr val="17714A"/>
          </a:solidFill>
          <a:ln w="12700">
            <a:solidFill>
              <a:srgbClr val="1771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38160" y="1371600"/>
            <a:ext cx="3429000" cy="1923796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17714A"/>
                </a:solidFill>
              </a:rPr>
              <a:t>products</a:t>
            </a:r>
            <a:endParaRPr lang="en-US" sz="2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800" dirty="0">
                <a:solidFill>
                  <a:srgbClr val="161B22"/>
                </a:solidFill>
              </a:rPr>
              <a:t>id, name, category, price, stock, is_active, image, rating; indexed by category and slug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48640" y="3514852"/>
            <a:ext cx="3575304" cy="1215136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514852"/>
            <a:ext cx="3575304" cy="64008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" y="3606292"/>
            <a:ext cx="3429000" cy="108712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2457D6"/>
                </a:solidFill>
              </a:rPr>
              <a:t>customers</a:t>
            </a:r>
            <a:endParaRPr lang="en-US" sz="2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800" dirty="0">
                <a:solidFill>
                  <a:srgbClr val="161B22"/>
                </a:solidFill>
              </a:rPr>
              <a:t>name, email, phone, total_orders; indexed by email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306824" y="3514852"/>
            <a:ext cx="3575304" cy="1215136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06824" y="3514852"/>
            <a:ext cx="3575304" cy="64008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379976" y="3606292"/>
            <a:ext cx="3429000" cy="108712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2457D6"/>
                </a:solidFill>
              </a:rPr>
              <a:t>reviews</a:t>
            </a:r>
            <a:endParaRPr lang="en-US" sz="2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800" dirty="0">
                <a:solidFill>
                  <a:srgbClr val="161B22"/>
                </a:solidFill>
              </a:rPr>
              <a:t>product_id, name, rating, text, created_at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065008" y="3514852"/>
            <a:ext cx="3575304" cy="1215136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65008" y="3514852"/>
            <a:ext cx="3575304" cy="64008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138160" y="3606292"/>
            <a:ext cx="3429000" cy="108712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2457D6"/>
                </a:solidFill>
              </a:rPr>
              <a:t>wishlists</a:t>
            </a:r>
            <a:endParaRPr lang="en-US" sz="2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800" dirty="0">
                <a:solidFill>
                  <a:srgbClr val="161B22"/>
                </a:solidFill>
              </a:rPr>
              <a:t>customer_id, product_id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548640" y="5029200"/>
            <a:ext cx="11091672" cy="502920"/>
          </a:xfrm>
          <a:prstGeom prst="rect">
            <a:avLst/>
          </a:prstGeom>
          <a:solidFill>
            <a:srgbClr val="E8EEFC"/>
          </a:solidFill>
          <a:ln w="12700">
            <a:solidFill>
              <a:srgbClr val="E8EEF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5029200"/>
            <a:ext cx="73152" cy="502920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1520" y="5029200"/>
            <a:ext cx="1081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1B22"/>
                </a:solidFill>
              </a:rPr>
              <a:t>Relationships: customers 1-N orders · orders 1-N order_items · products 1-N order_items · products 1-N reviews · customers/products N-N via wishlists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15 tables by domain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454396" cy="2214753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80160"/>
            <a:ext cx="5454396" cy="64008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371600"/>
            <a:ext cx="5308092" cy="2086737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2457D6"/>
                </a:solidFill>
              </a:rPr>
              <a:t>Commerce (5)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products, categories, orders, order_items, offers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6185916" y="1280160"/>
            <a:ext cx="5454396" cy="2214753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85916" y="1280160"/>
            <a:ext cx="5454396" cy="64008"/>
          </a:xfrm>
          <a:prstGeom prst="rect">
            <a:avLst/>
          </a:prstGeom>
          <a:solidFill>
            <a:srgbClr val="17714A"/>
          </a:solidFill>
          <a:ln w="12700">
            <a:solidFill>
              <a:srgbClr val="1771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59068" y="1371600"/>
            <a:ext cx="5308092" cy="2086737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17714A"/>
                </a:solidFill>
              </a:rPr>
              <a:t>Customers (4)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customers, wishlists, reviews, loyalty_members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548640" y="3677793"/>
            <a:ext cx="5454396" cy="2540127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677793"/>
            <a:ext cx="5454396" cy="6400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" y="3769233"/>
            <a:ext cx="5308092" cy="2412111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6B3FA0"/>
                </a:solidFill>
              </a:rPr>
              <a:t>Marketing (5)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leads, campaigns, birthday_reminders, anniversary_reminders, newsletter_subscribers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6185916" y="3677793"/>
            <a:ext cx="5454396" cy="2540127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85916" y="3677793"/>
            <a:ext cx="5454396" cy="64008"/>
          </a:xfrm>
          <a:prstGeom prst="rect">
            <a:avLst/>
          </a:prstGeom>
          <a:solidFill>
            <a:srgbClr val="B8520A"/>
          </a:solidFill>
          <a:ln w="12700">
            <a:solidFill>
              <a:srgbClr val="B8520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59068" y="3769233"/>
            <a:ext cx="5308092" cy="2412111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B8520A"/>
                </a:solidFill>
              </a:rPr>
              <a:t>B2B (1)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corporate_orders: company, contact, product interest, quantity, budget, needs_gst</a:t>
            </a:r>
            <a:endParaRPr lang="en-US" sz="2300" dirty="0"/>
          </a:p>
        </p:txBody>
      </p:sp>
      <p:sp>
        <p:nvSpPr>
          <p:cNvPr id="15" name="Shape 13"/>
          <p:cNvSpPr/>
          <p:nvPr/>
        </p:nvSpPr>
        <p:spPr>
          <a:xfrm>
            <a:off x="548640" y="5669280"/>
            <a:ext cx="11091672" cy="502920"/>
          </a:xfrm>
          <a:prstGeom prst="rect">
            <a:avLst/>
          </a:prstGeom>
          <a:solidFill>
            <a:srgbClr val="E8EEFC"/>
          </a:solidFill>
          <a:ln w="12700">
            <a:solidFill>
              <a:srgbClr val="E8EE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5669280"/>
            <a:ext cx="73152" cy="502920"/>
          </a:xfrm>
          <a:prstGeom prst="rect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5669280"/>
            <a:ext cx="1081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1B22"/>
                </a:solidFill>
              </a:rPr>
              <a:t>Note: the README mentions 19 or 39 tables, but schema.sql defines 15. Quote 15.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and order items model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1672" cy="914400"/>
        </p:xfrm>
        <a:graphic>
          <a:graphicData uri="http://schemas.openxmlformats.org/drawingml/2006/table">
            <a:tbl>
              <a:tblPr/>
              <a:tblGrid>
                <a:gridCol w="3116668"/>
                <a:gridCol w="4033335"/>
                <a:gridCol w="3941669"/>
              </a:tblGrid>
              <a:tr h="4617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Column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71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Type / rule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71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Why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714A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orders.id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TEXT primary key, ORD-&lt;base36 time&gt;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Human-readable ID used for tracking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subtotal, shipping, tax, total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DECIMAL(10,2)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Exact money values, no float errors in storage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payment_method / payment_status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default COD / pending; app writes Razorpay / paid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Shows how the order was paid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status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INTEGER 0-4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Placed, Processing, Production, Shipped, Delivered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order_items.customization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JSONB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Flexible per-item text, size, material and photo URLs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order_items.product_name / price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copied at order time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Keeps history even if the product changes later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security (RLS)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1672" cy="914400"/>
        </p:xfrm>
        <a:graphic>
          <a:graphicData uri="http://schemas.openxmlformats.org/drawingml/2006/table">
            <a:tbl>
              <a:tblPr/>
              <a:tblGrid>
                <a:gridCol w="4216669"/>
                <a:gridCol w="3483335"/>
                <a:gridCol w="3391668"/>
              </a:tblGrid>
              <a:tr h="4617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Table or bucket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71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Anonymous visitor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71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Admin (authenticated)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714A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products, categories, offers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Read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Full access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orders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Insert and read (for tracking)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Read and update status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order_items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Insert and read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Read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leads, corporate_orders, newsletter, reminders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Insert only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Admin read/manage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storage bucket "products"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Upload and view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Update and delete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5212080"/>
            <a:ext cx="11091672" cy="502920"/>
          </a:xfrm>
          <a:prstGeom prst="rect">
            <a:avLst/>
          </a:prstGeom>
          <a:solidFill>
            <a:srgbClr val="E8EEFC"/>
          </a:solidFill>
          <a:ln w="12700">
            <a:solidFill>
              <a:srgbClr val="E8EEFC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" y="5212080"/>
            <a:ext cx="73152" cy="502920"/>
          </a:xfrm>
          <a:prstGeom prst="rect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5212080"/>
            <a:ext cx="1081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1B22"/>
                </a:solidFill>
              </a:rPr>
              <a:t>Weak point: public read on orders exposes customer details to anyone holding the anon key. Fix: lookup by ID through a restricted function.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Queries, indexes and optimization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575304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80160"/>
            <a:ext cx="3575304" cy="64008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371600"/>
            <a:ext cx="3429000" cy="224942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2457D6"/>
                </a:solidFill>
              </a:rPr>
              <a:t>Existing indexes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products(category, slug), orders(customer_email, status), leads(phone), customers(email)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4306824" y="1280160"/>
            <a:ext cx="3575304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06824" y="1280160"/>
            <a:ext cx="3575304" cy="64008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379976" y="1371600"/>
            <a:ext cx="3429000" cy="224942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2457D6"/>
                </a:solidFill>
              </a:rPr>
              <a:t>Access pattern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Product list on load, order lookup by ID, order_items by order_id, admin lists by status.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8065008" y="1280160"/>
            <a:ext cx="3575304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65008" y="1280160"/>
            <a:ext cx="3575304" cy="64008"/>
          </a:xfrm>
          <a:prstGeom prst="rect">
            <a:avLst/>
          </a:prstGeom>
          <a:solidFill>
            <a:srgbClr val="17714A"/>
          </a:solidFill>
          <a:ln w="12700">
            <a:solidFill>
              <a:srgbClr val="1771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38160" y="1371600"/>
            <a:ext cx="3429000" cy="224942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17714A"/>
                </a:solidFill>
              </a:rPr>
              <a:t>Add next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Index order_items(order_id) and orders(created_at DESC); paginate with limit and offset.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3575304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840480"/>
            <a:ext cx="3575304" cy="64008"/>
          </a:xfrm>
          <a:prstGeom prst="rect">
            <a:avLst/>
          </a:prstGeom>
          <a:solidFill>
            <a:srgbClr val="B8520A"/>
          </a:solidFill>
          <a:ln w="12700">
            <a:solidFill>
              <a:srgbClr val="B8520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" y="3931920"/>
            <a:ext cx="3429000" cy="224942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B8520A"/>
                </a:solidFill>
              </a:rPr>
              <a:t>Reduce payload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Select only needed columns instead of whole rows; cache product list.</a:t>
            </a:r>
            <a:endParaRPr lang="en-US" sz="2300" dirty="0"/>
          </a:p>
        </p:txBody>
      </p:sp>
      <p:sp>
        <p:nvSpPr>
          <p:cNvPr id="15" name="Shape 13"/>
          <p:cNvSpPr/>
          <p:nvPr/>
        </p:nvSpPr>
        <p:spPr>
          <a:xfrm>
            <a:off x="4306824" y="3840480"/>
            <a:ext cx="3575304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06824" y="3840480"/>
            <a:ext cx="3575304" cy="6400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379976" y="3931920"/>
            <a:ext cx="3429000" cy="224942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6B3FA0"/>
                </a:solidFill>
              </a:rPr>
              <a:t>Search at scale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Replace in-browser filtering with PostgreSQL full-text search.</a:t>
            </a:r>
            <a:endParaRPr lang="en-US" sz="2300" dirty="0"/>
          </a:p>
        </p:txBody>
      </p:sp>
      <p:sp>
        <p:nvSpPr>
          <p:cNvPr id="18" name="Shape 16"/>
          <p:cNvSpPr/>
          <p:nvPr/>
        </p:nvSpPr>
        <p:spPr>
          <a:xfrm>
            <a:off x="8065008" y="3840480"/>
            <a:ext cx="3575304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65008" y="3840480"/>
            <a:ext cx="3575304" cy="6400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138160" y="3931920"/>
            <a:ext cx="3429000" cy="224942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334155"/>
                </a:solidFill>
              </a:rPr>
              <a:t>Inventory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The stock column exists; transactional stock decrement is a planned improvement.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Talking points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454396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80160"/>
            <a:ext cx="5454396" cy="64008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371600"/>
            <a:ext cx="5308092" cy="224942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2457D6"/>
                </a:solidFill>
              </a:rPr>
              <a:t>Why SQL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Orders, items and customers are relational and need integrity (foreign keys, cascade delete).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6185916" y="1280160"/>
            <a:ext cx="5454396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85916" y="1280160"/>
            <a:ext cx="5454396" cy="64008"/>
          </a:xfrm>
          <a:prstGeom prst="rect">
            <a:avLst/>
          </a:prstGeom>
          <a:solidFill>
            <a:srgbClr val="17714A"/>
          </a:solidFill>
          <a:ln w="12700">
            <a:solidFill>
              <a:srgbClr val="1771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59068" y="1371600"/>
            <a:ext cx="5308092" cy="224942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17714A"/>
                </a:solidFill>
              </a:rPr>
              <a:t>JSONB where flexible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Customization varies by product, so one JSONB column avoids dozens of nullable columns.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548640" y="3840480"/>
            <a:ext cx="5454396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840480"/>
            <a:ext cx="5454396" cy="64008"/>
          </a:xfrm>
          <a:prstGeom prst="rect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" y="3931920"/>
            <a:ext cx="5308092" cy="224942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B3261E"/>
                </a:solidFill>
              </a:rPr>
              <a:t>Security by design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RLS is the database-level guard; the secret key never reaches the browser.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6185916" y="3840480"/>
            <a:ext cx="5454396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85916" y="3840480"/>
            <a:ext cx="5454396" cy="64008"/>
          </a:xfrm>
          <a:prstGeom prst="rect">
            <a:avLst/>
          </a:prstGeom>
          <a:solidFill>
            <a:srgbClr val="B8520A"/>
          </a:solidFill>
          <a:ln w="12700">
            <a:solidFill>
              <a:srgbClr val="B8520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59068" y="3931920"/>
            <a:ext cx="5308092" cy="224942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B8520A"/>
                </a:solidFill>
              </a:rPr>
              <a:t>Known gaps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Public order reads, no transactional inventory, two sources of truth (localStorage and DB).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siArts">
  <a:themeElements>
    <a:clrScheme name="SasiArts">
      <a:dk1>
        <a:srgbClr val="161B22"/>
      </a:dk1>
      <a:lt1>
        <a:srgbClr val="FFFFFF"/>
      </a:lt1>
      <a:dk2>
        <a:srgbClr val="334155"/>
      </a:dk2>
      <a:lt2>
        <a:srgbClr val="F6F7F9"/>
      </a:lt2>
      <a:accent1>
        <a:srgbClr val="2457D6"/>
      </a:accent1>
      <a:accent2>
        <a:srgbClr val="B8520A"/>
      </a:accent2>
      <a:accent3>
        <a:srgbClr val="17714A"/>
      </a:accent3>
      <a:accent4>
        <a:srgbClr val="6B3FA0"/>
      </a:accent4>
      <a:accent5>
        <a:srgbClr val="B3261E"/>
      </a:accent5>
      <a:accent6>
        <a:srgbClr val="0E7490"/>
      </a:accent6>
      <a:hlink>
        <a:srgbClr val="2457D6"/>
      </a:hlink>
      <a:folHlink>
        <a:srgbClr val="6B3FA0"/>
      </a:folHlink>
    </a:clrScheme>
    <a:fontScheme name="SasiArts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and Supabase – Sasi Arts</dc:title>
  <dc:subject>PptxGenJS Presentation</dc:subject>
  <dc:creator>P. Bharath Kumar</dc:creator>
  <cp:lastModifiedBy>P. Bharath Kumar</cp:lastModifiedBy>
  <cp:revision>1</cp:revision>
  <dcterms:created xsi:type="dcterms:W3CDTF">2026-10-07T09:52:16Z</dcterms:created>
  <dcterms:modified xsi:type="dcterms:W3CDTF">2026-10-07T09:52:16Z</dcterms:modified>
</cp:coreProperties>
</file>