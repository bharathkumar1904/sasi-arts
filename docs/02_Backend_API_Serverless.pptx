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Backend" id="{491145b5-db25-8b32-3771-08a6fd71d669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Cover. Say what this deck covers and that every detail comes from the repository.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backend is intentionally thin.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Know these shapes by heart.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Simplified from api/razorpay-order.js.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Honest framing: zone based, no live courier rates.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Mention CORS wildcard as something to tighten.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external call has a fallback or a clear message.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Prioritise the first two.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82296" cy="566928"/>
          </a:xfrm>
          <a:prstGeom prst="rect">
            <a:avLst/>
          </a:prstGeom>
          <a:solidFill>
            <a:srgbClr val="B8520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86272"/>
                </a:solidFill>
              </a:rPr>
              <a:t>Backend and API Design  |  Sasi Arts  |  P. Bharath Kumar  |  2400030010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862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T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82296" cy="566928"/>
          </a:xfrm>
          <a:prstGeom prst="rect">
            <a:avLst/>
          </a:prstGeom>
          <a:solidFill>
            <a:srgbClr val="B8520A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777240" y="320040"/>
            <a:ext cx="10881360" cy="71323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16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86272"/>
                </a:solidFill>
              </a:rPr>
              <a:t>Backend and API Design  |  Sasi Arts  |  P. Bharath Kumar  |  2400030010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862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61B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B8520A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862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6400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8FB0FF"/>
                </a:solidFill>
              </a:rPr>
              <a:t>SASI ARTS · INTERVIEW DEEP-DIVE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28016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F2F4F7"/>
                </a:solidFill>
              </a:rPr>
              <a:t>Backend and API Design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6517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9D0DA"/>
                </a:solidFill>
              </a:rPr>
              <a:t>Three Vercel serverless functions running on Node.js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474720"/>
            <a:ext cx="10058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E6EDF3"/>
                </a:solidFill>
              </a:rPr>
              <a:t>Serverless architecture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E6EDF3"/>
                </a:solidFill>
              </a:rPr>
              <a:t>Endpoint contracts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E6EDF3"/>
                </a:solidFill>
              </a:rPr>
              <a:t>Razorpay create and verify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E6EDF3"/>
                </a:solidFill>
              </a:rPr>
              <a:t>Shipping calculator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E6EDF3"/>
                </a:solidFill>
              </a:rPr>
              <a:t>Proxy, CORS and client calling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E6EDF3"/>
                </a:solidFill>
              </a:rPr>
              <a:t>Error handling and improvements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612648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B0FF"/>
                </a:solidFill>
              </a:rPr>
              <a:t>P. Bharath Kumar  ·  Student ID 2400030010  ·  sasi-arts.vercel.app  ·  github.com/bharathkumar1904/sasi-arts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777240" y="32004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 architecture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2484882" cy="735584"/>
          </a:xfrm>
          <a:prstGeom prst="roundRect">
            <a:avLst>
              <a:gd name="adj" fmla="val 9945"/>
            </a:avLst>
          </a:prstGeom>
          <a:solidFill>
            <a:srgbClr val="FFFFFF"/>
          </a:solidFill>
          <a:ln w="19050">
            <a:solidFill>
              <a:srgbClr val="2457D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316736"/>
            <a:ext cx="2393442" cy="662432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57D6"/>
                </a:solidFill>
              </a:rPr>
              <a:t>Browser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161B22"/>
                </a:solidFill>
              </a:rPr>
              <a:t>Static SPA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3033522" y="1465072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86272"/>
                </a:solidFill>
              </a:rPr>
              <a:t>→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417570" y="1280160"/>
            <a:ext cx="2484882" cy="735584"/>
          </a:xfrm>
          <a:prstGeom prst="roundRect">
            <a:avLst>
              <a:gd name="adj" fmla="val 9945"/>
            </a:avLst>
          </a:prstGeom>
          <a:solidFill>
            <a:srgbClr val="FFFFFF"/>
          </a:solidFill>
          <a:ln w="19050">
            <a:solidFill>
              <a:srgbClr val="B8520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463290" y="1316736"/>
            <a:ext cx="2393442" cy="662432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8520A"/>
                </a:solidFill>
              </a:rPr>
              <a:t>/api/razorpay-order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161B22"/>
                </a:solidFill>
              </a:rPr>
              <a:t>Create and verify payments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902452" y="1465072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86272"/>
                </a:solidFill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6286500" y="1280160"/>
            <a:ext cx="2484882" cy="735584"/>
          </a:xfrm>
          <a:prstGeom prst="roundRect">
            <a:avLst>
              <a:gd name="adj" fmla="val 9945"/>
            </a:avLst>
          </a:prstGeom>
          <a:solidFill>
            <a:srgbClr val="FFFFFF"/>
          </a:solidFill>
          <a:ln w="19050">
            <a:solidFill>
              <a:srgbClr val="B8520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332220" y="1316736"/>
            <a:ext cx="2393442" cy="662432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8520A"/>
                </a:solidFill>
              </a:rPr>
              <a:t>/api/shipping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161B22"/>
                </a:solidFill>
              </a:rPr>
              <a:t>Pincode to charge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8771382" y="1465072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86272"/>
                </a:solidFill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9155430" y="1280160"/>
            <a:ext cx="2484882" cy="735584"/>
          </a:xfrm>
          <a:prstGeom prst="roundRect">
            <a:avLst>
              <a:gd name="adj" fmla="val 9945"/>
            </a:avLst>
          </a:prstGeom>
          <a:solidFill>
            <a:srgbClr val="FFFFFF"/>
          </a:solidFill>
          <a:ln w="19050">
            <a:solidFill>
              <a:srgbClr val="B8520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201150" y="1316736"/>
            <a:ext cx="2393442" cy="662432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8520A"/>
                </a:solidFill>
              </a:rPr>
              <a:t>/api/supabase-proxy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161B22"/>
                </a:solidFill>
              </a:rPr>
              <a:t>REST relay to Supabase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2381504"/>
            <a:ext cx="3575304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2381504"/>
            <a:ext cx="3575304" cy="64008"/>
          </a:xfrm>
          <a:prstGeom prst="rect">
            <a:avLst/>
          </a:prstGeom>
          <a:solidFill>
            <a:srgbClr val="2457D6"/>
          </a:solidFill>
          <a:ln w="12700">
            <a:solidFill>
              <a:srgbClr val="2457D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1792" y="2472944"/>
            <a:ext cx="3429000" cy="2889504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2457D6"/>
                </a:solidFill>
              </a:rPr>
              <a:t>Why serverless</a:t>
            </a:r>
            <a:endParaRPr lang="en-US" sz="2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100" dirty="0">
                <a:solidFill>
                  <a:srgbClr val="161B22"/>
                </a:solidFill>
              </a:rPr>
              <a:t>No server to manage. Functions deploy with the site and the Razorpay secret stays in environment variables.</a:t>
            </a:r>
            <a:endParaRPr lang="en-US" sz="2300" dirty="0"/>
          </a:p>
        </p:txBody>
      </p:sp>
      <p:sp>
        <p:nvSpPr>
          <p:cNvPr id="17" name="Shape 15"/>
          <p:cNvSpPr/>
          <p:nvPr/>
        </p:nvSpPr>
        <p:spPr>
          <a:xfrm>
            <a:off x="4306824" y="2381504"/>
            <a:ext cx="3575304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306824" y="2381504"/>
            <a:ext cx="3575304" cy="64008"/>
          </a:xfrm>
          <a:prstGeom prst="rect">
            <a:avLst/>
          </a:prstGeom>
          <a:solidFill>
            <a:srgbClr val="17714A"/>
          </a:solidFill>
          <a:ln w="12700">
            <a:solidFill>
              <a:srgbClr val="17714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379976" y="2472944"/>
            <a:ext cx="3429000" cy="2889504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17714A"/>
                </a:solidFill>
              </a:rPr>
              <a:t>Stateless handlers</a:t>
            </a:r>
            <a:endParaRPr lang="en-US" sz="2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100" dirty="0">
                <a:solidFill>
                  <a:srgbClr val="161B22"/>
                </a:solidFill>
              </a:rPr>
              <a:t>Each file exports one handler (req, res). Persistent data lives in Supabase, not in function memory.</a:t>
            </a:r>
            <a:endParaRPr lang="en-US" sz="2300" dirty="0"/>
          </a:p>
        </p:txBody>
      </p:sp>
      <p:sp>
        <p:nvSpPr>
          <p:cNvPr id="20" name="Shape 18"/>
          <p:cNvSpPr/>
          <p:nvPr/>
        </p:nvSpPr>
        <p:spPr>
          <a:xfrm>
            <a:off x="8065008" y="2381504"/>
            <a:ext cx="3575304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065008" y="2381504"/>
            <a:ext cx="3575304" cy="64008"/>
          </a:xfrm>
          <a:prstGeom prst="rect">
            <a:avLst/>
          </a:prstGeom>
          <a:solidFill>
            <a:srgbClr val="2457D6"/>
          </a:solidFill>
          <a:ln w="12700">
            <a:solidFill>
              <a:srgbClr val="2457D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138160" y="2472944"/>
            <a:ext cx="3429000" cy="2889504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2457D6"/>
                </a:solidFill>
              </a:rPr>
              <a:t>Small surface</a:t>
            </a:r>
            <a:endParaRPr lang="en-US" sz="2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100" dirty="0">
                <a:solidFill>
                  <a:srgbClr val="161B22"/>
                </a:solidFill>
              </a:rPr>
              <a:t>Only three endpoints, so the API is easy to explain and to secure.</a:t>
            </a:r>
            <a:endParaRPr lang="en-US" sz="2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862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777240" y="32004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 contracts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91672" cy="914400"/>
        </p:xfrm>
        <a:graphic>
          <a:graphicData uri="http://schemas.openxmlformats.org/drawingml/2006/table">
            <a:tbl>
              <a:tblPr/>
              <a:tblGrid>
                <a:gridCol w="3116668"/>
                <a:gridCol w="4216669"/>
                <a:gridCol w="3758335"/>
              </a:tblGrid>
              <a:tr h="4617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Endpoint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2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Request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2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Response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20A"/>
                    </a:solidFill>
                  </a:tcPr>
                </a:tc>
              </a:tr>
              <a:tr h="7040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61B22"/>
                          </a:solidFill>
                        </a:rPr>
                        <a:t>POST /api/razorpay-order (create)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61B22"/>
                          </a:solidFill>
                        </a:rPr>
                        <a:t>{ action:"create", amount, currency }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61B22"/>
                          </a:solidFill>
                        </a:rPr>
                        <a:t>{ order_id, amount, currency } or 400 Invalid amount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829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61B22"/>
                          </a:solidFill>
                        </a:rPr>
                        <a:t>POST /api/razorpay-order (verify)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61B22"/>
                          </a:solidFill>
                        </a:rPr>
                        <a:t>{ action:"verify", razorpay_order_id, razorpay_payment_id, razorpay_signature }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61B22"/>
                          </a:solidFill>
                        </a:rPr>
                        <a:t>{ verified:true, payment_id } or 400 Invalid payment signature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4251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61B22"/>
                          </a:solidFill>
                        </a:rPr>
                        <a:t>POST /api/shipping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61B22"/>
                          </a:solidFill>
                        </a:rPr>
                        <a:t>{ destination_pincode }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61B22"/>
                          </a:solidFill>
                        </a:rPr>
                        <a:t>{ charge, note, pincode }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40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61B22"/>
                          </a:solidFill>
                        </a:rPr>
                        <a:t>GET or POST /api/supabase-proxy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61B22"/>
                          </a:solidFill>
                        </a:rPr>
                        <a:t>{ path, method, apikey, auth, body }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61B22"/>
                          </a:solidFill>
                        </a:rPr>
                        <a:t>{ data, error } from Supabase REST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862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777240" y="32004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Razorpay function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5760720" cy="4846320"/>
          </a:xfrm>
          <a:prstGeom prst="roundRect">
            <a:avLst>
              <a:gd name="adj" fmla="val 1132"/>
            </a:avLst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353312"/>
            <a:ext cx="5577840" cy="4700016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case 'create':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(!amount || amount &lt;= 0)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400 'Invalid amount'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order = razorpay.orders.create({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amount: Math.round(amount),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currency: currency || 'INR',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receipt: 'rcpt_' + Date.now() })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case 'verify':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expected = HMAC_SHA256(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KEY_SECRET,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order_id + '|' + payment_id)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expected === signature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-&gt; { verified: true }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92240" y="1280160"/>
            <a:ext cx="5148072" cy="107442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92240" y="1280160"/>
            <a:ext cx="5148072" cy="64008"/>
          </a:xfrm>
          <a:prstGeom prst="rect">
            <a:avLst/>
          </a:prstGeom>
          <a:solidFill>
            <a:srgbClr val="2457D6"/>
          </a:solidFill>
          <a:ln w="12700">
            <a:solidFill>
              <a:srgbClr val="2457D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65392" y="1371600"/>
            <a:ext cx="5001768" cy="946404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2457D6"/>
                </a:solidFill>
              </a:rPr>
              <a:t>Input validation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161B22"/>
                </a:solidFill>
              </a:rPr>
              <a:t>Rejects missing amount, missing verify fields and unknown actions with 400.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92240" y="2537460"/>
            <a:ext cx="5148072" cy="107442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92240" y="2537460"/>
            <a:ext cx="5148072" cy="64008"/>
          </a:xfrm>
          <a:prstGeom prst="rect">
            <a:avLst/>
          </a:prstGeom>
          <a:solidFill>
            <a:srgbClr val="17714A"/>
          </a:solidFill>
          <a:ln w="12700">
            <a:solidFill>
              <a:srgbClr val="17714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565392" y="2628900"/>
            <a:ext cx="5001768" cy="946404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17714A"/>
                </a:solidFill>
              </a:rPr>
              <a:t>Math.round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161B22"/>
                </a:solidFill>
              </a:rPr>
              <a:t>Amounts are sent as paise (total × 100). Rounding removes float noise such as 23.33 × 100.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492240" y="3794760"/>
            <a:ext cx="5148072" cy="107442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92240" y="3794760"/>
            <a:ext cx="5148072" cy="64008"/>
          </a:xfrm>
          <a:prstGeom prst="rect">
            <a:avLst/>
          </a:prstGeom>
          <a:solidFill>
            <a:srgbClr val="B8520A"/>
          </a:solidFill>
          <a:ln w="12700">
            <a:solidFill>
              <a:srgbClr val="B8520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65392" y="3886200"/>
            <a:ext cx="5001768" cy="946404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B8520A"/>
                </a:solidFill>
              </a:rPr>
              <a:t>Secret handling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161B22"/>
                </a:solidFill>
              </a:rPr>
              <a:t>RAZORPAY_KEY_SECRET is read from process.env, never from the browser.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492240" y="5052060"/>
            <a:ext cx="5148072" cy="107442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92240" y="5052060"/>
            <a:ext cx="5148072" cy="6400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565392" y="5143500"/>
            <a:ext cx="5001768" cy="946404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334155"/>
                </a:solidFill>
              </a:rPr>
              <a:t>Errors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161B22"/>
                </a:solidFill>
              </a:rPr>
              <a:t>A try/catch returns a 500 JSON error and logs the cause.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862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777240" y="32004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Shipping calculator</a:t>
            </a:r>
            <a:endParaRPr lang="en-US" sz="3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91672" cy="914400"/>
        </p:xfrm>
        <a:graphic>
          <a:graphicData uri="http://schemas.openxmlformats.org/drawingml/2006/table">
            <a:tbl>
              <a:tblPr/>
              <a:tblGrid>
                <a:gridCol w="8318754"/>
                <a:gridCol w="2772918"/>
              </a:tblGrid>
              <a:tr h="4617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Destination (pincode range)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2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Charge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20A"/>
                    </a:solidFill>
                  </a:tcPr>
                </a:tc>
              </a:tr>
              <a:tr h="4251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61B22"/>
                          </a:solidFill>
                        </a:rPr>
                        <a:t>Local: Rajanagaram area list (533101-110, 533294-296)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61B22"/>
                          </a:solidFill>
                        </a:rPr>
                        <a:t>Rs 50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51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61B22"/>
                          </a:solidFill>
                        </a:rPr>
                        <a:t>East Godavari district (533000-534999)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61B22"/>
                          </a:solidFill>
                        </a:rPr>
                        <a:t>Rs 100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4251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61B22"/>
                          </a:solidFill>
                        </a:rPr>
                        <a:t>Andhra Pradesh nearby (530000-539999)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61B22"/>
                          </a:solidFill>
                        </a:rPr>
                        <a:t>Rs 120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51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61B22"/>
                          </a:solidFill>
                        </a:rPr>
                        <a:t>Telangana / Rayalaseema (500000-519999)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61B22"/>
                          </a:solidFill>
                        </a:rPr>
                        <a:t>Rs 150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4251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61B22"/>
                          </a:solidFill>
                        </a:rPr>
                        <a:t>Karnataka (560000-569999)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61B22"/>
                          </a:solidFill>
                        </a:rPr>
                        <a:t>Rs 200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51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61B22"/>
                          </a:solidFill>
                        </a:rPr>
                        <a:t>Tamil Nadu and Kerala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61B22"/>
                          </a:solidFill>
                        </a:rPr>
                        <a:t>Rs 220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4251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61B22"/>
                          </a:solidFill>
                        </a:rPr>
                        <a:t>Other listed states and remote regions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61B22"/>
                          </a:solidFill>
                        </a:rPr>
                        <a:t>Rs 250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51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61B22"/>
                          </a:solidFill>
                        </a:rPr>
                        <a:t>No rule matched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61B22"/>
                          </a:solidFill>
                        </a:rPr>
                        <a:t>Rs 100 (standard)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548640" y="5486400"/>
            <a:ext cx="11091672" cy="502920"/>
          </a:xfrm>
          <a:prstGeom prst="rect">
            <a:avLst/>
          </a:prstGeom>
          <a:solidFill>
            <a:srgbClr val="E8EEFC"/>
          </a:solidFill>
          <a:ln w="12700">
            <a:solidFill>
              <a:srgbClr val="E8EEFC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48640" y="5486400"/>
            <a:ext cx="73152" cy="502920"/>
          </a:xfrm>
          <a:prstGeom prst="rect">
            <a:avLst/>
          </a:prstGeom>
          <a:solidFill>
            <a:srgbClr val="2457D6"/>
          </a:solidFill>
          <a:ln w="12700">
            <a:solidFill>
              <a:srgbClr val="2457D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5486400"/>
            <a:ext cx="10817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1B22"/>
                </a:solidFill>
              </a:rPr>
              <a:t>First matching rule wins. This is an in-house function, not a courier API: Delhivery appears only as a config value and a label.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862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777240" y="32004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Proxy, CORS and client calling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5454396" cy="2540127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280160"/>
            <a:ext cx="5454396" cy="64008"/>
          </a:xfrm>
          <a:prstGeom prst="rect">
            <a:avLst/>
          </a:prstGeom>
          <a:solidFill>
            <a:srgbClr val="2457D6"/>
          </a:solidFill>
          <a:ln w="12700">
            <a:solidFill>
              <a:srgbClr val="2457D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371600"/>
            <a:ext cx="5308092" cy="2412111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2457D6"/>
                </a:solidFill>
              </a:rPr>
              <a:t>fetchApi() with fallback</a:t>
            </a:r>
            <a:endParaRPr lang="en-US" sz="2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100" dirty="0">
                <a:solidFill>
                  <a:srgbClr val="161B22"/>
                </a:solidFill>
              </a:rPr>
              <a:t>POSTs JSON to the API. If the primary host is unreachable it retries once against CONFIG.API_BASE_URL.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6185916" y="1280160"/>
            <a:ext cx="5454396" cy="2540127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85916" y="1280160"/>
            <a:ext cx="5454396" cy="64008"/>
          </a:xfrm>
          <a:prstGeom prst="rect">
            <a:avLst/>
          </a:prstGeom>
          <a:solidFill>
            <a:srgbClr val="B8520A"/>
          </a:solidFill>
          <a:ln w="12700">
            <a:solidFill>
              <a:srgbClr val="B8520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259068" y="1371600"/>
            <a:ext cx="5308092" cy="2412111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B8520A"/>
                </a:solidFill>
              </a:rPr>
              <a:t>supabase-proxy</a:t>
            </a:r>
            <a:endParaRPr lang="en-US" sz="2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100" dirty="0">
                <a:solidFill>
                  <a:srgbClr val="161B22"/>
                </a:solidFill>
              </a:rPr>
              <a:t>Relays REST calls to the project URL. GET is supported because the code notes POST bodies can be stripped on some mobile networks.</a:t>
            </a:r>
            <a:endParaRPr lang="en-US" sz="2300" dirty="0"/>
          </a:p>
        </p:txBody>
      </p:sp>
      <p:sp>
        <p:nvSpPr>
          <p:cNvPr id="9" name="Shape 7"/>
          <p:cNvSpPr/>
          <p:nvPr/>
        </p:nvSpPr>
        <p:spPr>
          <a:xfrm>
            <a:off x="548640" y="4003167"/>
            <a:ext cx="5454396" cy="2214753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4003167"/>
            <a:ext cx="5454396" cy="64008"/>
          </a:xfrm>
          <a:prstGeom prst="rect">
            <a:avLst/>
          </a:prstGeom>
          <a:solidFill>
            <a:srgbClr val="B3261E"/>
          </a:solidFill>
          <a:ln w="12700">
            <a:solidFill>
              <a:srgbClr val="B3261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1792" y="4094607"/>
            <a:ext cx="5308092" cy="2086737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B3261E"/>
                </a:solidFill>
              </a:rPr>
              <a:t>CORS headers</a:t>
            </a:r>
            <a:endParaRPr lang="en-US" sz="2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100" dirty="0">
                <a:solidFill>
                  <a:srgbClr val="161B22"/>
                </a:solidFill>
              </a:rPr>
              <a:t>Functions send Access-Control-Allow-Origin * and answer OPTIONS preflight requests.</a:t>
            </a:r>
            <a:endParaRPr lang="en-US" sz="2300" dirty="0"/>
          </a:p>
        </p:txBody>
      </p:sp>
      <p:sp>
        <p:nvSpPr>
          <p:cNvPr id="12" name="Shape 10"/>
          <p:cNvSpPr/>
          <p:nvPr/>
        </p:nvSpPr>
        <p:spPr>
          <a:xfrm>
            <a:off x="6185916" y="4003167"/>
            <a:ext cx="5454396" cy="2214753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85916" y="4003167"/>
            <a:ext cx="5454396" cy="64008"/>
          </a:xfrm>
          <a:prstGeom prst="rect">
            <a:avLst/>
          </a:prstGeom>
          <a:solidFill>
            <a:srgbClr val="17714A"/>
          </a:solidFill>
          <a:ln w="12700">
            <a:solidFill>
              <a:srgbClr val="17714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59068" y="4094607"/>
            <a:ext cx="5308092" cy="2086737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17714A"/>
                </a:solidFill>
              </a:rPr>
              <a:t>Direct versus proxy</a:t>
            </a:r>
            <a:endParaRPr lang="en-US" sz="2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100" dirty="0">
                <a:solidFill>
                  <a:srgbClr val="161B22"/>
                </a:solidFill>
              </a:rPr>
              <a:t>supabase.js can call Supabase directly with apikey plus Bearer token, or go through the proxy.</a:t>
            </a:r>
            <a:endParaRPr lang="en-US" sz="2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862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777240" y="32004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handling by failure point</a:t>
            </a:r>
            <a:endParaRPr lang="en-US" sz="3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91672" cy="914400"/>
        </p:xfrm>
        <a:graphic>
          <a:graphicData uri="http://schemas.openxmlformats.org/drawingml/2006/table">
            <a:tbl>
              <a:tblPr/>
              <a:tblGrid>
                <a:gridCol w="3300002"/>
                <a:gridCol w="7791670"/>
              </a:tblGrid>
              <a:tr h="4617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What fails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2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What the app does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20A"/>
                    </a:solidFill>
                  </a:tcPr>
                </a:tc>
              </a:tr>
              <a:tr h="4251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61B22"/>
                          </a:solidFill>
                        </a:rPr>
                        <a:t>Razorpay order creation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61B22"/>
                          </a:solidFill>
                        </a:rPr>
                        <a:t>Toast "Payment setup failed" with the reason; no checkout opens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51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61B22"/>
                          </a:solidFill>
                        </a:rPr>
                        <a:t>Signature verification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61B22"/>
                          </a:solidFill>
                        </a:rPr>
                        <a:t>Toast "Payment verification failed"; order is not saved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4251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61B22"/>
                          </a:solidFill>
                        </a:rPr>
                        <a:t>Supabase order save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61B22"/>
                          </a:solidFill>
                        </a:rPr>
                        <a:t>Retries order and items separately, keeps a local copy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51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61B22"/>
                          </a:solidFill>
                        </a:rPr>
                        <a:t>EmailJS invoice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61B22"/>
                          </a:solidFill>
                        </a:rPr>
                        <a:t>Error caught and logged; the order still completes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4251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61B22"/>
                          </a:solidFill>
                        </a:rPr>
                        <a:t>Shipping API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61B22"/>
                          </a:solidFill>
                        </a:rPr>
                        <a:t>Client-side estimate with the same zone logic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51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61B22"/>
                          </a:solidFill>
                        </a:rPr>
                        <a:t>API host unreachable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61B22"/>
                          </a:solidFill>
                        </a:rPr>
                        <a:t>Retries against the fallback API base URL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862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777240" y="32004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improvements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3575304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280160"/>
            <a:ext cx="3575304" cy="64008"/>
          </a:xfrm>
          <a:prstGeom prst="rect">
            <a:avLst/>
          </a:prstGeom>
          <a:solidFill>
            <a:srgbClr val="B3261E"/>
          </a:solidFill>
          <a:ln w="12700">
            <a:solidFill>
              <a:srgbClr val="B3261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371600"/>
            <a:ext cx="3429000" cy="2249424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B3261E"/>
                </a:solidFill>
              </a:rPr>
              <a:t>Server-side pricing</a:t>
            </a:r>
            <a:endParaRPr lang="en-US" sz="2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100" dirty="0">
                <a:solidFill>
                  <a:srgbClr val="161B22"/>
                </a:solidFill>
              </a:rPr>
              <a:t>Recompute totals from database prices and shipping zone before creating the Razorpay order.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4306824" y="1280160"/>
            <a:ext cx="3575304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306824" y="1280160"/>
            <a:ext cx="3575304" cy="64008"/>
          </a:xfrm>
          <a:prstGeom prst="rect">
            <a:avLst/>
          </a:prstGeom>
          <a:solidFill>
            <a:srgbClr val="B3261E"/>
          </a:solidFill>
          <a:ln w="12700">
            <a:solidFill>
              <a:srgbClr val="B3261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379976" y="1371600"/>
            <a:ext cx="3429000" cy="2249424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B3261E"/>
                </a:solidFill>
              </a:rPr>
              <a:t>Restrict the proxy</a:t>
            </a:r>
            <a:endParaRPr lang="en-US" sz="2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100" dirty="0">
                <a:solidFill>
                  <a:srgbClr val="161B22"/>
                </a:solidFill>
              </a:rPr>
              <a:t>Allow-list tables and methods instead of relaying any REST path.</a:t>
            </a:r>
            <a:endParaRPr lang="en-US" sz="2300" dirty="0"/>
          </a:p>
        </p:txBody>
      </p:sp>
      <p:sp>
        <p:nvSpPr>
          <p:cNvPr id="9" name="Shape 7"/>
          <p:cNvSpPr/>
          <p:nvPr/>
        </p:nvSpPr>
        <p:spPr>
          <a:xfrm>
            <a:off x="8065008" y="1280160"/>
            <a:ext cx="3575304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65008" y="1280160"/>
            <a:ext cx="3575304" cy="64008"/>
          </a:xfrm>
          <a:prstGeom prst="rect">
            <a:avLst/>
          </a:prstGeom>
          <a:solidFill>
            <a:srgbClr val="B8520A"/>
          </a:solidFill>
          <a:ln w="12700">
            <a:solidFill>
              <a:srgbClr val="B8520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138160" y="1371600"/>
            <a:ext cx="3429000" cy="2249424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B8520A"/>
                </a:solidFill>
              </a:rPr>
              <a:t>Tighten CORS</a:t>
            </a:r>
            <a:endParaRPr lang="en-US" sz="2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100" dirty="0">
                <a:solidFill>
                  <a:srgbClr val="161B22"/>
                </a:solidFill>
              </a:rPr>
              <a:t>Allow only the site origins.</a:t>
            </a:r>
            <a:endParaRPr lang="en-US" sz="2300" dirty="0"/>
          </a:p>
        </p:txBody>
      </p:sp>
      <p:sp>
        <p:nvSpPr>
          <p:cNvPr id="12" name="Shape 10"/>
          <p:cNvSpPr/>
          <p:nvPr/>
        </p:nvSpPr>
        <p:spPr>
          <a:xfrm>
            <a:off x="548640" y="3840480"/>
            <a:ext cx="3575304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3840480"/>
            <a:ext cx="3575304" cy="64008"/>
          </a:xfrm>
          <a:prstGeom prst="rect">
            <a:avLst/>
          </a:prstGeom>
          <a:solidFill>
            <a:srgbClr val="17714A"/>
          </a:solidFill>
          <a:ln w="12700">
            <a:solidFill>
              <a:srgbClr val="17714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1792" y="3931920"/>
            <a:ext cx="3429000" cy="2249424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17714A"/>
                </a:solidFill>
              </a:rPr>
              <a:t>Payment webhook</a:t>
            </a:r>
            <a:endParaRPr lang="en-US" sz="2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100" dirty="0">
                <a:solidFill>
                  <a:srgbClr val="161B22"/>
                </a:solidFill>
              </a:rPr>
              <a:t>Use Razorpay webhooks to confirm payments even if the browser closes.</a:t>
            </a:r>
            <a:endParaRPr lang="en-US" sz="2300" dirty="0"/>
          </a:p>
        </p:txBody>
      </p:sp>
      <p:sp>
        <p:nvSpPr>
          <p:cNvPr id="15" name="Shape 13"/>
          <p:cNvSpPr/>
          <p:nvPr/>
        </p:nvSpPr>
        <p:spPr>
          <a:xfrm>
            <a:off x="4306824" y="3840480"/>
            <a:ext cx="3575304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06824" y="3840480"/>
            <a:ext cx="3575304" cy="64008"/>
          </a:xfrm>
          <a:prstGeom prst="rect">
            <a:avLst/>
          </a:prstGeom>
          <a:solidFill>
            <a:srgbClr val="2457D6"/>
          </a:solidFill>
          <a:ln w="12700">
            <a:solidFill>
              <a:srgbClr val="2457D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379976" y="3931920"/>
            <a:ext cx="3429000" cy="2249424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2457D6"/>
                </a:solidFill>
              </a:rPr>
              <a:t>Rate limiting and logs</a:t>
            </a:r>
            <a:endParaRPr lang="en-US" sz="2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100" dirty="0">
                <a:solidFill>
                  <a:srgbClr val="161B22"/>
                </a:solidFill>
              </a:rPr>
              <a:t>Throttle abuse and add structured logging and alerts.</a:t>
            </a:r>
            <a:endParaRPr lang="en-US" sz="2300" dirty="0"/>
          </a:p>
        </p:txBody>
      </p:sp>
      <p:sp>
        <p:nvSpPr>
          <p:cNvPr id="18" name="Shape 16"/>
          <p:cNvSpPr/>
          <p:nvPr/>
        </p:nvSpPr>
        <p:spPr>
          <a:xfrm>
            <a:off x="8065008" y="3840480"/>
            <a:ext cx="3575304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65008" y="3840480"/>
            <a:ext cx="3575304" cy="6400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138160" y="3931920"/>
            <a:ext cx="3429000" cy="2249424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334155"/>
                </a:solidFill>
              </a:rPr>
              <a:t>Tests</a:t>
            </a:r>
            <a:endParaRPr lang="en-US" sz="2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100" dirty="0">
                <a:solidFill>
                  <a:srgbClr val="161B22"/>
                </a:solidFill>
              </a:rPr>
              <a:t>Unit-test shipping and signature logic; integration-test with Razorpay test mode.</a:t>
            </a:r>
            <a:endParaRPr lang="en-US" sz="2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862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asiArts">
  <a:themeElements>
    <a:clrScheme name="SasiArts">
      <a:dk1>
        <a:srgbClr val="161B22"/>
      </a:dk1>
      <a:lt1>
        <a:srgbClr val="FFFFFF"/>
      </a:lt1>
      <a:dk2>
        <a:srgbClr val="334155"/>
      </a:dk2>
      <a:lt2>
        <a:srgbClr val="F6F7F9"/>
      </a:lt2>
      <a:accent1>
        <a:srgbClr val="2457D6"/>
      </a:accent1>
      <a:accent2>
        <a:srgbClr val="B8520A"/>
      </a:accent2>
      <a:accent3>
        <a:srgbClr val="17714A"/>
      </a:accent3>
      <a:accent4>
        <a:srgbClr val="6B3FA0"/>
      </a:accent4>
      <a:accent5>
        <a:srgbClr val="B3261E"/>
      </a:accent5>
      <a:accent6>
        <a:srgbClr val="0E7490"/>
      </a:accent6>
      <a:hlink>
        <a:srgbClr val="2457D6"/>
      </a:hlink>
      <a:folHlink>
        <a:srgbClr val="6B3FA0"/>
      </a:folHlink>
    </a:clrScheme>
    <a:fontScheme name="SasiArts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Backend and API Design – Sasi Arts</dc:title>
  <dc:subject>PptxGenJS Presentation</dc:subject>
  <dc:creator>P. Bharath Kumar</dc:creator>
  <cp:lastModifiedBy>P. Bharath Kumar</cp:lastModifiedBy>
  <cp:revision>1</cp:revision>
  <dcterms:created xsi:type="dcterms:W3CDTF">2026-10-07T09:52:16Z</dcterms:created>
  <dcterms:modified xsi:type="dcterms:W3CDTF">2026-10-07T09:52:16Z</dcterms:modified>
</cp:coreProperties>
</file>