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what the app does, who it is for, and that everything shown is verified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to solution mapping.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order path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technologies present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from the live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note: if cloud upload fails, a local preview is kept and the user is told.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Razorpay chosen for UPI/cards/netbanking in India. Server-side verification IS implemented in api/razorpay-order.js.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gaps; it shows engineering judgement.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performance numbers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12 and 13 using the verified flow; mention the localStorage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is a separate page for security and load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Local-then-sync.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to interview Q11-13.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engineering judgement.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measured from the repository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305560"/>
            <a:ext cx="10566400" cy="473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305560"/>
            <a:ext cx="10566400" cy="473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sasi-arts.vercel.app/" TargetMode="External"/><Relationship Id="rId2" Type="http://schemas.openxmlformats.org/officeDocument/2006/relationships/hyperlink" Target="https://github.com/bharathkumar1904/sasi-arts" TargetMode="External"/><Relationship Id="rId3" Type="http://schemas.openxmlformats.org/officeDocument/2006/relationships/image" Target="../media/image-1-1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01073"/>
            <a:ext cx="4892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FB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E-COMMERCE · PROJECT CASE STUDY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989693"/>
            <a:ext cx="4892294" cy="142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b="1" i="0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– Personalized Gifts &amp; E-Commerce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3528378"/>
            <a:ext cx="4892294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C9D0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digital storefront to discover, customize and order personalized gifts: photo frames, LED frames, acrylic gifts and more.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4388167"/>
            <a:ext cx="489229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Bharath Kumar  ·  Student ID: 2400030010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794567"/>
            <a:ext cx="489229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0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Live: </a:t>
            </a:r>
            <a:r>
              <a:rPr lang="en-US" sz="1300" u="sng" dirty="0">
                <a:solidFill>
                  <a:srgbClr val="8FB0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sasi-arts.vercel.app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0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GitHub: </a:t>
            </a:r>
            <a:r>
              <a:rPr lang="en-US" sz="1300" u="sng" dirty="0">
                <a:solidFill>
                  <a:srgbClr val="8FB0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github.com/bharathkumar1904/sasi-arts</a:t>
            </a:r>
            <a:endParaRPr lang="en-US" sz="1300" dirty="0"/>
          </a:p>
        </p:txBody>
      </p:sp>
      <p:pic>
        <p:nvPicPr>
          <p:cNvPr id="7" name="Image 0" descr="Sasi Arts homepage">    </p:cNvPr>
          <p:cNvPicPr>
            <a:picLocks noChangeAspect="1"/>
          </p:cNvPicPr>
          <p:nvPr/>
        </p:nvPicPr>
        <p:blipFill>
          <a:blip r:embed="rId3"/>
          <a:srcRect l="26399" r="0" t="0" b="0"/>
          <a:stretch/>
        </p:blipFill>
        <p:spPr>
          <a:xfrm>
            <a:off x="5924550" y="1657350"/>
            <a:ext cx="5448300" cy="3543300"/>
          </a:xfrm>
          <a:prstGeom prst="roundRect">
            <a:avLst>
              <a:gd name="adj" fmla="val 1971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5921375" y="1654175"/>
            <a:ext cx="5454650" cy="3549650"/>
          </a:xfrm>
          <a:prstGeom prst="roundRect">
            <a:avLst>
              <a:gd name="adj" fmla="val 2057"/>
            </a:avLst>
          </a:prstGeom>
          <a:noFill/>
          <a:ln w="6350">
            <a:solidFill>
              <a:srgbClr val="3A445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2800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Problem Statement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156335"/>
            <a:ext cx="4921250" cy="3267710"/>
          </a:xfrm>
          <a:prstGeom prst="roundRect">
            <a:avLst>
              <a:gd name="adj" fmla="val 2623"/>
            </a:avLst>
          </a:prstGeom>
          <a:solidFill>
            <a:srgbClr val="FDF1E8"/>
          </a:solidFill>
          <a:ln w="6350">
            <a:solidFill>
              <a:srgbClr val="EFC9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780" y="1348740"/>
            <a:ext cx="462020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852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3780" y="1706880"/>
            <a:ext cx="4620209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Customers need an easy way to discover personalized gifts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3780" y="2225040"/>
            <a:ext cx="470027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Customization normally needs manual back-and-forth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780" y="2528570"/>
            <a:ext cx="462020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Customers want more than one way to order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3780" y="2832100"/>
            <a:ext cx="462020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Payment and order tracking should be in one place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780" y="3135630"/>
            <a:ext cx="462020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 business needs a digital storefront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92800" y="2505710"/>
            <a:ext cx="48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454775" y="1156335"/>
            <a:ext cx="4921250" cy="3267710"/>
          </a:xfrm>
          <a:prstGeom prst="roundRect">
            <a:avLst>
              <a:gd name="adj" fmla="val 2623"/>
            </a:avLst>
          </a:prstGeom>
          <a:solidFill>
            <a:srgbClr val="EAF0FD"/>
          </a:solidFill>
          <a:ln w="6350">
            <a:solidFill>
              <a:srgbClr val="B9CC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2580" y="1348740"/>
            <a:ext cx="462020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Sasi Arts web app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755" y="1710055"/>
            <a:ext cx="2198370" cy="394970"/>
          </a:xfrm>
          <a:prstGeom prst="roundRect">
            <a:avLst>
              <a:gd name="adj" fmla="val 152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98536" tIns="73136" rIns="39558" bIns="4773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discovery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56675" y="1710055"/>
            <a:ext cx="2198370" cy="394970"/>
          </a:xfrm>
          <a:prstGeom prst="roundRect">
            <a:avLst>
              <a:gd name="adj" fmla="val 152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98537" tIns="73136" rIns="39557" bIns="4773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755" y="2187575"/>
            <a:ext cx="2198370" cy="394970"/>
          </a:xfrm>
          <a:prstGeom prst="roundRect">
            <a:avLst>
              <a:gd name="adj" fmla="val 152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98536" tIns="73136" rIns="39558" bIns="4773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 upload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56675" y="2187575"/>
            <a:ext cx="2198370" cy="394970"/>
          </a:xfrm>
          <a:prstGeom prst="roundRect">
            <a:avLst>
              <a:gd name="adj" fmla="val 152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98537" tIns="73136" rIns="39557" bIns="4773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 &amp; checkout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755" y="2665095"/>
            <a:ext cx="2198370" cy="608330"/>
          </a:xfrm>
          <a:prstGeom prst="roundRect">
            <a:avLst>
              <a:gd name="adj" fmla="val 9916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98536" tIns="73136" rIns="39558" bIns="4773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payment (Razorpay)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56675" y="2665095"/>
            <a:ext cx="2198370" cy="608330"/>
          </a:xfrm>
          <a:prstGeom prst="roundRect">
            <a:avLst>
              <a:gd name="adj" fmla="val 9916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98537" tIns="73136" rIns="39557" bIns="7313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ordering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755" y="3355975"/>
            <a:ext cx="2198370" cy="394970"/>
          </a:xfrm>
          <a:prstGeom prst="roundRect">
            <a:avLst>
              <a:gd name="adj" fmla="val 152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98536" tIns="73136" rIns="39558" bIns="4773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tracking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56675" y="3355975"/>
            <a:ext cx="2198370" cy="394970"/>
          </a:xfrm>
          <a:prstGeom prst="roundRect">
            <a:avLst>
              <a:gd name="adj" fmla="val 152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98537" tIns="73136" rIns="39557" bIns="4773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/ bulk enquiry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755" y="3833495"/>
            <a:ext cx="2198370" cy="394970"/>
          </a:xfrm>
          <a:prstGeom prst="roundRect">
            <a:avLst>
              <a:gd name="adj" fmla="val 152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98536" tIns="73136" rIns="39558" bIns="4773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UI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457962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one storefront covering discovery → customization → payment or WhatsApp order → tracking, plus an admin panel for the owner.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6289041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P. Bharath Kumar · 2400030010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62890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2800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9150" y="1159511"/>
            <a:ext cx="1327785" cy="1267778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12700">
            <a:solidFill>
              <a:srgbClr val="5862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9960" y="1277620"/>
            <a:ext cx="11169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49960" y="1529080"/>
            <a:ext cx="1116965" cy="80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on mobile or desktop browser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29485" y="1597819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91435" y="1159511"/>
            <a:ext cx="2571591" cy="1267778"/>
          </a:xfrm>
          <a:prstGeom prst="roundRect">
            <a:avLst>
              <a:gd name="adj" fmla="val 5510"/>
            </a:avLst>
          </a:prstGeom>
          <a:solidFill>
            <a:srgbClr val="EAF0FD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2245" y="1277620"/>
            <a:ext cx="23792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22245" y="1529080"/>
            <a:ext cx="2379270" cy="61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SPA: index.html, CSS, vanilla JS. Reads Supabase REST directly (js/supabase.js)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45576" y="1597819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607526" y="1159511"/>
            <a:ext cx="2749233" cy="1267778"/>
          </a:xfrm>
          <a:prstGeom prst="roundRect">
            <a:avLst>
              <a:gd name="adj" fmla="val 5510"/>
            </a:avLst>
          </a:prstGeom>
          <a:solidFill>
            <a:srgbClr val="FDF1E8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38336" y="1277620"/>
            <a:ext cx="25622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852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Backend /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38336" y="1529080"/>
            <a:ext cx="2562241" cy="61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serverless (Node.js): /api/razorpay-order, /api/shipping, /api/supabase-proxy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39309" y="1597819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801259" y="1159511"/>
            <a:ext cx="2571591" cy="1267778"/>
          </a:xfrm>
          <a:prstGeom prst="roundRect">
            <a:avLst>
              <a:gd name="adj" fmla="val 5510"/>
            </a:avLst>
          </a:prstGeom>
          <a:solidFill>
            <a:srgbClr val="E7F4ED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32069" y="1277620"/>
            <a:ext cx="23792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7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32069" y="1529080"/>
            <a:ext cx="2379270" cy="61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PostgreSQL (15 tables, RLS) + Storage bucket for images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2586038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EXTERNAL SERVICES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9150" y="2975928"/>
            <a:ext cx="2562225" cy="1072753"/>
          </a:xfrm>
          <a:prstGeom prst="roundRect">
            <a:avLst>
              <a:gd name="adj" fmla="val 651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9960" y="3094038"/>
            <a:ext cx="23696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D9DE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Razorpay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9960" y="3345498"/>
            <a:ext cx="2369623" cy="61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creation + signature check on server; Checkout runs in browser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82975" y="2975928"/>
            <a:ext cx="2562225" cy="1072753"/>
          </a:xfrm>
          <a:prstGeom prst="roundRect">
            <a:avLst>
              <a:gd name="adj" fmla="val 651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3785" y="3094038"/>
            <a:ext cx="23696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D9DE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13785" y="3345498"/>
            <a:ext cx="2369623" cy="41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wa.me link with prefilled order text (no API call)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46800" y="2975928"/>
            <a:ext cx="2562225" cy="1072753"/>
          </a:xfrm>
          <a:prstGeom prst="roundRect">
            <a:avLst>
              <a:gd name="adj" fmla="val 651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7610" y="3094038"/>
            <a:ext cx="23696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D9DE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EmailJS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77610" y="3345498"/>
            <a:ext cx="2369623" cy="41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invoice email, sent from browser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810625" y="2975928"/>
            <a:ext cx="2562225" cy="1072753"/>
          </a:xfrm>
          <a:prstGeom prst="roundRect">
            <a:avLst>
              <a:gd name="adj" fmla="val 651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41435" y="3094038"/>
            <a:ext cx="23696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D9DE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Auth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941435" y="3345498"/>
            <a:ext cx="2369623" cy="41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Email/password login for admin panel only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800" y="4207432"/>
            <a:ext cx="10566400" cy="604520"/>
          </a:xfrm>
          <a:prstGeom prst="roundRect">
            <a:avLst>
              <a:gd name="adj" fmla="val 12605"/>
            </a:avLst>
          </a:prstGeom>
          <a:solidFill>
            <a:srgbClr val="161B22"/>
          </a:solidFill>
          <a:ln/>
        </p:spPr>
        <p:txBody>
          <a:bodyPr wrap="square" lIns="117382" tIns="66582" rIns="0" bIns="411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Deployment:</a:t>
            </a:r>
            <a:r>
              <a:rPr lang="en-US" sz="1200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Vercel hosts static files, serverless functions and CDN; GitHub → auto-deploy. No separate courier API: shipping is an in-house pincode function.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2800" y="4964351"/>
            <a:ext cx="10883392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path:</a:t>
            </a: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cart (localStorage) → /api/shipping → /api/razorpay-order create → Razorpay Checkout → verify (HMAC) → Supabase orders + order_items → EmailJS invoice → tracking by Order ID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2800" y="6289041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P. Bharath Kumar · 2400030010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0" y="62890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r>
              <a:rPr lang="en-US" sz="2800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156336"/>
            <a:ext cx="3431064" cy="113919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0280" y="1285241"/>
            <a:ext cx="32161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0280" y="1549400"/>
            <a:ext cx="3216127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HTML5, CSS3, Vanilla JavaScript (ES6+), Font Awesome, Google Fonts (Playfair Display, Poppins)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0389" y="1156336"/>
            <a:ext cx="3431143" cy="113919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4694" y="1285241"/>
            <a:ext cx="32162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852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34694" y="1549400"/>
            <a:ext cx="3216209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on Vercel Serverless Functions, razorpay SDK (^2.9.0), Node crypto (HMAC-SHA256)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44882" y="1156336"/>
            <a:ext cx="3431143" cy="113919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9187" y="1285241"/>
            <a:ext cx="32162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7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99187" y="1549400"/>
            <a:ext cx="3216209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PostgreSQL with Row-Level Security; Supabase Storage for images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975" y="2454275"/>
            <a:ext cx="3431064" cy="113919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0280" y="2583180"/>
            <a:ext cx="32161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70280" y="2847341"/>
            <a:ext cx="3216127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Auth (email/password) for the admin panel; JWT kept in sessionStorage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0389" y="2454275"/>
            <a:ext cx="3431143" cy="113919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4694" y="2583180"/>
            <a:ext cx="32162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852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34694" y="2847341"/>
            <a:ext cx="3216209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Razorpay Standard Checkout (UPI, card, netbanking)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44882" y="2454275"/>
            <a:ext cx="3431143" cy="113919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9187" y="2583180"/>
            <a:ext cx="32162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7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integrations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9187" y="2847341"/>
            <a:ext cx="3216209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(wa.me), EmailJS, QR Server API (api.qrserver.com). Delivery = in-house pincode API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975" y="3752216"/>
            <a:ext cx="3431064" cy="113919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0280" y="3881120"/>
            <a:ext cx="32161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0280" y="4145280"/>
            <a:ext cx="3216127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(static + serverless + CDN), GitHub auto-deploy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0389" y="3752216"/>
            <a:ext cx="3431143" cy="113919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4694" y="3881120"/>
            <a:ext cx="32162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34694" y="4145280"/>
            <a:ext cx="321620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Git, GitHub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44882" y="3752216"/>
            <a:ext cx="3431143" cy="113919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9187" y="3881120"/>
            <a:ext cx="32162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Deliberately not used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99187" y="4145280"/>
            <a:ext cx="3216209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React, Tailwind, Express, Next.js, TypeScript. Chosen to keep a small store simple, SEO-friendly and build-free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6289039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P. Bharath Kumar · 2400030010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0" y="62890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2800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E-Commerce Functionality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5975" y="1156336"/>
            <a:ext cx="1111250" cy="496570"/>
          </a:xfrm>
          <a:custGeom>
            <a:avLst/>
            <a:gdLst/>
            <a:ahLst/>
            <a:cxnLst/>
            <a:rect l="l" t="t" r="r" b="b"/>
            <a:pathLst>
              <a:path w="1111250" h="496570">
                <a:moveTo>
                  <a:pt x="47625" y="0"/>
                </a:moveTo>
                <a:lnTo>
                  <a:pt x="1063625" y="0"/>
                </a:lnTo>
                <a:arcTo hR="47625" wR="47625" stAng="16200000" swAng="5400000"/>
                <a:lnTo>
                  <a:pt x="1111250" y="448945"/>
                </a:lnTo>
                <a:arcTo hR="47625" wR="47625" stAng="0" swAng="5400000"/>
                <a:lnTo>
                  <a:pt x="47625" y="496570"/>
                </a:lnTo>
                <a:arcTo hR="47625" wR="4762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27305" tIns="65405" rIns="27305" bIns="65405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97075" y="1156336"/>
            <a:ext cx="1111250" cy="496570"/>
          </a:xfrm>
          <a:prstGeom prst="roundRect">
            <a:avLst>
              <a:gd name="adj" fmla="val 959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none" lIns="0" tIns="51456" rIns="0" bIns="51456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/ filter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78175" y="1156336"/>
            <a:ext cx="1111250" cy="496570"/>
          </a:xfrm>
          <a:custGeom>
            <a:avLst/>
            <a:gdLst/>
            <a:ahLst/>
            <a:cxnLst/>
            <a:rect l="l" t="t" r="r" b="b"/>
            <a:pathLst>
              <a:path w="1111250" h="496570">
                <a:moveTo>
                  <a:pt x="47625" y="0"/>
                </a:moveTo>
                <a:lnTo>
                  <a:pt x="1063625" y="0"/>
                </a:lnTo>
                <a:arcTo hR="47625" wR="47625" stAng="16200000" swAng="5400000"/>
                <a:lnTo>
                  <a:pt x="1111250" y="448945"/>
                </a:lnTo>
                <a:arcTo hR="47625" wR="47625" stAng="0" swAng="5400000"/>
                <a:lnTo>
                  <a:pt x="47625" y="496570"/>
                </a:lnTo>
                <a:arcTo hR="47625" wR="4762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27305" tIns="65405" rIns="27305" bIns="65405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product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59275" y="1156336"/>
            <a:ext cx="1111250" cy="496570"/>
          </a:xfrm>
          <a:custGeom>
            <a:avLst/>
            <a:gdLst/>
            <a:ahLst/>
            <a:cxnLst/>
            <a:rect l="l" t="t" r="r" b="b"/>
            <a:pathLst>
              <a:path w="1111250" h="496570">
                <a:moveTo>
                  <a:pt x="47625" y="0"/>
                </a:moveTo>
                <a:lnTo>
                  <a:pt x="1063625" y="0"/>
                </a:lnTo>
                <a:arcTo hR="47625" wR="47625" stAng="16200000" swAng="5400000"/>
                <a:lnTo>
                  <a:pt x="1111250" y="448945"/>
                </a:lnTo>
                <a:arcTo hR="47625" wR="47625" stAng="0" swAng="5400000"/>
                <a:lnTo>
                  <a:pt x="47625" y="496570"/>
                </a:lnTo>
                <a:arcTo hR="47625" wR="4762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27305" tIns="65405" rIns="27305" bIns="65405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40375" y="1156336"/>
            <a:ext cx="1111250" cy="496570"/>
          </a:xfrm>
          <a:custGeom>
            <a:avLst/>
            <a:gdLst/>
            <a:ahLst/>
            <a:cxnLst/>
            <a:rect l="l" t="t" r="r" b="b"/>
            <a:pathLst>
              <a:path w="1111250" h="496570">
                <a:moveTo>
                  <a:pt x="47625" y="0"/>
                </a:moveTo>
                <a:lnTo>
                  <a:pt x="1063625" y="0"/>
                </a:lnTo>
                <a:arcTo hR="47625" wR="47625" stAng="16200000" swAng="5400000"/>
                <a:lnTo>
                  <a:pt x="1111250" y="448945"/>
                </a:lnTo>
                <a:arcTo hR="47625" wR="47625" stAng="0" swAng="5400000"/>
                <a:lnTo>
                  <a:pt x="47625" y="496570"/>
                </a:lnTo>
                <a:arcTo hR="47625" wR="4762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27305" tIns="65405" rIns="27305" bIns="65405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21475" y="1156336"/>
            <a:ext cx="1111250" cy="496570"/>
          </a:xfrm>
          <a:custGeom>
            <a:avLst/>
            <a:gdLst/>
            <a:ahLst/>
            <a:cxnLst/>
            <a:rect l="l" t="t" r="r" b="b"/>
            <a:pathLst>
              <a:path w="1111250" h="496570">
                <a:moveTo>
                  <a:pt x="47625" y="0"/>
                </a:moveTo>
                <a:lnTo>
                  <a:pt x="1063625" y="0"/>
                </a:lnTo>
                <a:arcTo hR="47625" wR="47625" stAng="16200000" swAng="5400000"/>
                <a:lnTo>
                  <a:pt x="1111250" y="448945"/>
                </a:lnTo>
                <a:arcTo hR="47625" wR="47625" stAng="0" swAng="5400000"/>
                <a:lnTo>
                  <a:pt x="47625" y="496570"/>
                </a:lnTo>
                <a:arcTo hR="47625" wR="4762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27305" tIns="65405" rIns="27305" bIns="40005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details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02575" y="1156336"/>
            <a:ext cx="1111250" cy="496570"/>
          </a:xfrm>
          <a:custGeom>
            <a:avLst/>
            <a:gdLst/>
            <a:ahLst/>
            <a:cxnLst/>
            <a:rect l="l" t="t" r="r" b="b"/>
            <a:pathLst>
              <a:path w="1111250" h="496570">
                <a:moveTo>
                  <a:pt x="47625" y="0"/>
                </a:moveTo>
                <a:lnTo>
                  <a:pt x="1063625" y="0"/>
                </a:lnTo>
                <a:arcTo hR="47625" wR="47625" stAng="16200000" swAng="5400000"/>
                <a:lnTo>
                  <a:pt x="1111250" y="448945"/>
                </a:lnTo>
                <a:arcTo hR="47625" wR="47625" stAng="0" swAng="5400000"/>
                <a:lnTo>
                  <a:pt x="47625" y="496570"/>
                </a:lnTo>
                <a:arcTo hR="47625" wR="4762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27305" tIns="65405" rIns="27305" bIns="40005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+ GST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83675" y="1156336"/>
            <a:ext cx="1111250" cy="496570"/>
          </a:xfrm>
          <a:custGeom>
            <a:avLst/>
            <a:gdLst/>
            <a:ahLst/>
            <a:cxnLst/>
            <a:rect l="l" t="t" r="r" b="b"/>
            <a:pathLst>
              <a:path w="1111250" h="496570">
                <a:moveTo>
                  <a:pt x="47625" y="0"/>
                </a:moveTo>
                <a:lnTo>
                  <a:pt x="1063625" y="0"/>
                </a:lnTo>
                <a:arcTo hR="47625" wR="47625" stAng="16200000" swAng="5400000"/>
                <a:lnTo>
                  <a:pt x="1111250" y="448945"/>
                </a:lnTo>
                <a:arcTo hR="47625" wR="47625" stAng="0" swAng="5400000"/>
                <a:lnTo>
                  <a:pt x="47625" y="496570"/>
                </a:lnTo>
                <a:arcTo hR="47625" wR="4762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27305" tIns="65405" rIns="27305" bIns="40005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Razorpay or WhatsApp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64775" y="1156336"/>
            <a:ext cx="1111250" cy="496570"/>
          </a:xfrm>
          <a:custGeom>
            <a:avLst/>
            <a:gdLst/>
            <a:ahLst/>
            <a:cxnLst/>
            <a:rect l="l" t="t" r="r" b="b"/>
            <a:pathLst>
              <a:path w="1111250" h="496570">
                <a:moveTo>
                  <a:pt x="47625" y="0"/>
                </a:moveTo>
                <a:lnTo>
                  <a:pt x="1063625" y="0"/>
                </a:lnTo>
                <a:arcTo hR="47625" wR="47625" stAng="16200000" swAng="5400000"/>
                <a:lnTo>
                  <a:pt x="1111250" y="448945"/>
                </a:lnTo>
                <a:arcTo hR="47625" wR="47625" stAng="0" swAng="5400000"/>
                <a:lnTo>
                  <a:pt x="47625" y="496570"/>
                </a:lnTo>
                <a:arcTo hR="47625" wR="4762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27305" tIns="65405" rIns="27305" bIns="65405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order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1808482"/>
            <a:ext cx="2794000" cy="2222500"/>
          </a:xfrm>
          <a:prstGeom prst="roundRect">
            <a:avLst>
              <a:gd name="adj" fmla="val 2857"/>
            </a:avLst>
          </a:prstGeom>
          <a:solidFill>
            <a:srgbClr val="E8EBF0"/>
          </a:solidFill>
          <a:ln/>
        </p:spPr>
      </p:sp>
      <p:pic>
        <p:nvPicPr>
          <p:cNvPr id="13" name="Image 0" descr="Categor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2281887"/>
            <a:ext cx="2781300" cy="127569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15975" y="1811657"/>
            <a:ext cx="2787650" cy="2216150"/>
          </a:xfrm>
          <a:prstGeom prst="roundRect">
            <a:avLst>
              <a:gd name="adj" fmla="val 2722"/>
            </a:avLst>
          </a:prstGeom>
          <a:noFill/>
          <a:ln w="6350">
            <a:solidFill>
              <a:srgbClr val="D9DE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2800" y="4081782"/>
            <a:ext cx="28778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733800" y="1808482"/>
            <a:ext cx="3556000" cy="2222500"/>
          </a:xfrm>
          <a:prstGeom prst="roundRect">
            <a:avLst>
              <a:gd name="adj" fmla="val 2857"/>
            </a:avLst>
          </a:prstGeom>
          <a:solidFill>
            <a:srgbClr val="E8EBF0"/>
          </a:solidFill>
          <a:ln/>
        </p:spPr>
      </p:sp>
      <p:pic>
        <p:nvPicPr>
          <p:cNvPr id="17" name="Image 1" descr="Product catalog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150" y="2064615"/>
            <a:ext cx="3543300" cy="1710233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736975" y="1811657"/>
            <a:ext cx="3549650" cy="2216150"/>
          </a:xfrm>
          <a:prstGeom prst="roundRect">
            <a:avLst>
              <a:gd name="adj" fmla="val 2722"/>
            </a:avLst>
          </a:prstGeom>
          <a:noFill/>
          <a:ln w="6350">
            <a:solidFill>
              <a:srgbClr val="D9DEE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733800" y="4081782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catalogue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416800" y="1808482"/>
            <a:ext cx="2667000" cy="2222500"/>
          </a:xfrm>
          <a:prstGeom prst="roundRect">
            <a:avLst>
              <a:gd name="adj" fmla="val 2857"/>
            </a:avLst>
          </a:prstGeom>
          <a:solidFill>
            <a:srgbClr val="E8EBF0"/>
          </a:solidFill>
          <a:ln/>
        </p:spPr>
      </p:sp>
      <p:pic>
        <p:nvPicPr>
          <p:cNvPr id="21" name="Image 2" descr="Customize mod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150" y="1963281"/>
            <a:ext cx="2654300" cy="191290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419975" y="1811657"/>
            <a:ext cx="2660650" cy="2216150"/>
          </a:xfrm>
          <a:prstGeom prst="roundRect">
            <a:avLst>
              <a:gd name="adj" fmla="val 2722"/>
            </a:avLst>
          </a:prstGeom>
          <a:noFill/>
          <a:ln w="6350">
            <a:solidFill>
              <a:srgbClr val="D9DEE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416800" y="4081782"/>
            <a:ext cx="27470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Customize modal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0210800" y="1808482"/>
            <a:ext cx="1270000" cy="2222500"/>
          </a:xfrm>
          <a:prstGeom prst="roundRect">
            <a:avLst>
              <a:gd name="adj" fmla="val 5000"/>
            </a:avLst>
          </a:prstGeom>
          <a:solidFill>
            <a:srgbClr val="E8EBF0"/>
          </a:solidFill>
          <a:ln/>
        </p:spPr>
      </p:sp>
      <p:pic>
        <p:nvPicPr>
          <p:cNvPr id="25" name="Image 3" descr="Cart + checkou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3017" y="1814832"/>
            <a:ext cx="1205566" cy="2209800"/>
          </a:xfrm>
          <a:custGeom>
            <a:avLst/>
            <a:gdLst/>
            <a:ahLst/>
            <a:cxnLst/>
            <a:rect l="l" t="t" r="r" b="b"/>
            <a:pathLst>
              <a:path w="1205566" h="2209800">
                <a:moveTo>
                  <a:pt x="0" y="9322"/>
                </a:moveTo>
                <a:arcTo wR="57150" hR="57150" stAng="14208737" swAng="1991263"/>
                <a:lnTo>
                  <a:pt x="1174283" y="0"/>
                </a:lnTo>
                <a:arcTo wR="57150" hR="57150" stAng="16200000" swAng="1991263"/>
                <a:lnTo>
                  <a:pt x="1205566" y="2200478"/>
                </a:lnTo>
                <a:arcTo wR="57150" hR="57150" stAng="3408737" swAng="1991263"/>
                <a:lnTo>
                  <a:pt x="31283" y="2209800"/>
                </a:lnTo>
                <a:arcTo wR="57150" hR="57150" stAng="5400000" swAng="1991263"/>
                <a:close/>
              </a:path>
            </a:pathLst>
          </a:custGeom>
        </p:spPr>
      </p:pic>
      <p:sp>
        <p:nvSpPr>
          <p:cNvPr id="26" name="Shape 20"/>
          <p:cNvSpPr/>
          <p:nvPr/>
        </p:nvSpPr>
        <p:spPr>
          <a:xfrm>
            <a:off x="10213975" y="1811657"/>
            <a:ext cx="1263650" cy="2216150"/>
          </a:xfrm>
          <a:prstGeom prst="roundRect">
            <a:avLst>
              <a:gd name="adj" fmla="val 4774"/>
            </a:avLst>
          </a:prstGeom>
          <a:noFill/>
          <a:ln w="6350">
            <a:solidFill>
              <a:srgbClr val="D9DEE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0210800" y="408178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 + checkout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15975" y="4450714"/>
            <a:ext cx="10560050" cy="145161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70280" y="4579621"/>
            <a:ext cx="105589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data moves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70280" y="4831082"/>
            <a:ext cx="10558983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</a:t>
            </a: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</a:t>
            </a: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object (cart, wishlist, WhatsApp Kart, orders) → saveState() → localStorage. Products load from Supabase </a:t>
            </a: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</a:t>
            </a: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merged over sample data and cached. Checkout reads cart + delivery form, then calls the API.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12800" y="6289039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P. Bharath Kumar · 2400030010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0058400" y="62890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101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680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r>
              <a:rPr lang="en-US" sz="1680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Product Personalization</a:t>
            </a:r>
            <a:endParaRPr lang="en-US" sz="1680" dirty="0"/>
          </a:p>
        </p:txBody>
      </p:sp>
      <p:sp>
        <p:nvSpPr>
          <p:cNvPr id="3" name="Shape 1"/>
          <p:cNvSpPr/>
          <p:nvPr/>
        </p:nvSpPr>
        <p:spPr>
          <a:xfrm>
            <a:off x="812800" y="837645"/>
            <a:ext cx="4953000" cy="662861"/>
          </a:xfrm>
          <a:prstGeom prst="roundRect">
            <a:avLst>
              <a:gd name="adj" fmla="val 9580"/>
            </a:avLst>
          </a:prstGeom>
          <a:solidFill>
            <a:srgbClr val="E8EBF0"/>
          </a:solidFill>
          <a:ln/>
        </p:spPr>
      </p:sp>
      <p:pic>
        <p:nvPicPr>
          <p:cNvPr id="4" name="Image 0" descr="Customize mod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8226" y="843995"/>
            <a:ext cx="902148" cy="65016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975" y="840820"/>
            <a:ext cx="4946650" cy="656511"/>
          </a:xfrm>
          <a:prstGeom prst="roundRect">
            <a:avLst>
              <a:gd name="adj" fmla="val 9189"/>
            </a:avLst>
          </a:prstGeom>
          <a:noFill/>
          <a:ln w="6350">
            <a:solidFill>
              <a:srgbClr val="D9DE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1627507"/>
            <a:ext cx="50800" cy="4303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Options: custom text, size, material, multiple photos. The 3-step builder also has a font-style selector with live preview.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1019175" y="840820"/>
            <a:ext cx="10356850" cy="936069"/>
          </a:xfrm>
          <a:prstGeom prst="roundRect">
            <a:avLst>
              <a:gd name="adj" fmla="val 780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73480" y="969724"/>
            <a:ext cx="103496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73480" y="1221184"/>
            <a:ext cx="1034968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Drag-and-drop or file picker, accept=image/*, instant FileReader preview.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19175" y="1872140"/>
            <a:ext cx="10356850" cy="936149"/>
          </a:xfrm>
          <a:prstGeom prst="roundRect">
            <a:avLst>
              <a:gd name="adj" fmla="val 780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3480" y="2001044"/>
            <a:ext cx="103496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73480" y="2252504"/>
            <a:ext cx="1034968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checks type + 10 MB. The storage bucket also allows only JPEG, PNG, WebP, GIF up to 10 MB.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19175" y="2903538"/>
            <a:ext cx="10356850" cy="936069"/>
          </a:xfrm>
          <a:prstGeom prst="roundRect">
            <a:avLst>
              <a:gd name="adj" fmla="val 780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3480" y="3032444"/>
            <a:ext cx="103496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73480" y="3283902"/>
            <a:ext cx="1034968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 → Supabase Storage bucket (uploads/…); public URL kept on the cart item.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19175" y="3934857"/>
            <a:ext cx="10356850" cy="936149"/>
          </a:xfrm>
          <a:prstGeom prst="roundRect">
            <a:avLst>
              <a:gd name="adj" fmla="val 780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73480" y="4063761"/>
            <a:ext cx="103496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73480" y="4315222"/>
            <a:ext cx="1034968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item.customization = {text, size, material, photos[]} → saved as JSON in order_items.customization.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19175" y="4966255"/>
            <a:ext cx="10356850" cy="936069"/>
          </a:xfrm>
          <a:prstGeom prst="roundRect">
            <a:avLst>
              <a:gd name="adj" fmla="val 780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3480" y="5095162"/>
            <a:ext cx="103496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refresh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73480" y="5346622"/>
            <a:ext cx="1034968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 persists in localStorage (sasiCart), so customization and photo URLs survive.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6289039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P. Bharath Kumar · 2400030010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058400" y="62890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217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680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r>
              <a:rPr lang="en-US" sz="1680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Payment, Ordering &amp; Integrations</a:t>
            </a:r>
            <a:endParaRPr lang="en-US" sz="168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964725"/>
          <a:ext cx="6593840" cy="4575016"/>
        </p:xfrm>
        <a:graphic>
          <a:graphicData uri="http://schemas.openxmlformats.org/drawingml/2006/table">
            <a:tbl>
              <a:tblPr/>
              <a:tblGrid>
                <a:gridCol w="2197947"/>
                <a:gridCol w="2197947"/>
                <a:gridCol w="2197947"/>
              </a:tblGrid>
              <a:tr h="325279"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b="1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b="1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Flow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b="1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happens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</a:tr>
              <a:tr h="743109"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2457D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→ Website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Delivery form; pincode → /api/shipping gives charge; flat GST ₹23.33 added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3109"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2457D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Website → Backend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 create (amount × 100) → Razorpay orders.create → order_id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194"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2457D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→ Razorpay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Checkout modal: UPI / card / netbanking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2024"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2457D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Website → Backend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 verify: server recomputes HMAC-SHA256(order_id|payment_id) with secret from env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3109"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2457D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Website → Order DB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Only if verified: save orders + order_items to Supabase; local copy as backup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194"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2457D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Confirmation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45"/>
                        </a:lnSpc>
                        <a:buNone/>
                      </a:pPr>
                      <a:r>
                        <a:rPr lang="en-US" sz="117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Cart cleared, EmailJS admin invoice, toast with Order ID</a:t>
                      </a:r>
                      <a:endParaRPr lang="en-US" sz="11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2229" marR="52229" marT="52229" marB="52229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5975" y="5644514"/>
            <a:ext cx="5187950" cy="257810"/>
          </a:xfrm>
          <a:prstGeom prst="roundRect">
            <a:avLst>
              <a:gd name="adj" fmla="val 28325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0280" y="5773421"/>
            <a:ext cx="5025720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handling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970280" y="5811521"/>
            <a:ext cx="5025720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36"/>
              </a:lnSpc>
              <a:buNone/>
            </a:pPr>
            <a:r>
              <a:rPr lang="en-US" sz="72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Dismissed checkout → “Payment cancelled”. Failed verification → error toast, order not saved.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6184900" y="954565"/>
            <a:ext cx="3556000" cy="1905000"/>
          </a:xfrm>
          <a:prstGeom prst="roundRect">
            <a:avLst>
              <a:gd name="adj" fmla="val 3333"/>
            </a:avLst>
          </a:prstGeom>
          <a:solidFill>
            <a:srgbClr val="E8EBF0"/>
          </a:solidFill>
          <a:ln/>
        </p:spPr>
      </p:sp>
      <p:pic>
        <p:nvPicPr>
          <p:cNvPr id="8" name="Image 0" descr="WhatsApp or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0" y="1025458"/>
            <a:ext cx="3543300" cy="176321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88075" y="957740"/>
            <a:ext cx="3549650" cy="1898650"/>
          </a:xfrm>
          <a:prstGeom prst="roundRect">
            <a:avLst>
              <a:gd name="adj" fmla="val 3177"/>
            </a:avLst>
          </a:prstGeom>
          <a:noFill/>
          <a:ln w="6350">
            <a:solidFill>
              <a:srgbClr val="D9DE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88075" y="2951640"/>
            <a:ext cx="5187950" cy="1427718"/>
          </a:xfrm>
          <a:prstGeom prst="roundRect">
            <a:avLst>
              <a:gd name="adj" fmla="val 5115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42380" y="3080544"/>
            <a:ext cx="50257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342380" y="3332004"/>
            <a:ext cx="502572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Prefilled wa.me message carries the cart/quote for custom or assisted orders.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88075" y="4474607"/>
            <a:ext cx="5187950" cy="1427718"/>
          </a:xfrm>
          <a:prstGeom prst="roundRect">
            <a:avLst>
              <a:gd name="adj" fmla="val 5115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42380" y="4603511"/>
            <a:ext cx="50257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&amp; GST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42380" y="4854972"/>
            <a:ext cx="502572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Pincode zones (₹50–₹250) computed in /api/shipping. GST is a flat configured amount, not a percentage.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2800" y="6289039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P. Bharath Kumar · 2400030010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058400" y="62890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r>
              <a:rPr lang="en-US" sz="2800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Database, Backend &amp; Security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9150" y="1159511"/>
            <a:ext cx="2082800" cy="1153160"/>
          </a:xfrm>
          <a:prstGeom prst="roundRect">
            <a:avLst>
              <a:gd name="adj" fmla="val 4956"/>
            </a:avLst>
          </a:prstGeom>
          <a:solidFill>
            <a:srgbClr val="FFFFFF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4560" y="1239521"/>
            <a:ext cx="19281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852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24560" y="1470661"/>
            <a:ext cx="192814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id, customer_*, address, pincode, subtotal, shipping, tax, total, status, payment_id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71800" y="1584961"/>
            <a:ext cx="579676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─ ∞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557826" y="1159511"/>
            <a:ext cx="2082800" cy="1153160"/>
          </a:xfrm>
          <a:prstGeom prst="roundRect">
            <a:avLst>
              <a:gd name="adj" fmla="val 4956"/>
            </a:avLst>
          </a:prstGeom>
          <a:solidFill>
            <a:srgbClr val="FFFFFF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63236" y="1239521"/>
            <a:ext cx="19281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852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order_items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63236" y="1470661"/>
            <a:ext cx="192814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order_id, product_name, price, qty, customization, image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9150" y="2414271"/>
            <a:ext cx="2082800" cy="772160"/>
          </a:xfrm>
          <a:prstGeom prst="roundRect">
            <a:avLst>
              <a:gd name="adj" fmla="val 7401"/>
            </a:avLst>
          </a:prstGeom>
          <a:solidFill>
            <a:srgbClr val="FFFF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4560" y="2494282"/>
            <a:ext cx="19281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4560" y="2725421"/>
            <a:ext cx="19281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id, name, category, price, stock, is_active, image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0" y="2649221"/>
            <a:ext cx="579676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─ ∞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557826" y="2414271"/>
            <a:ext cx="2082800" cy="772160"/>
          </a:xfrm>
          <a:prstGeom prst="roundRect">
            <a:avLst>
              <a:gd name="adj" fmla="val 7401"/>
            </a:avLst>
          </a:prstGeom>
          <a:solidFill>
            <a:srgbClr val="FFFF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63236" y="2494282"/>
            <a:ext cx="19281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63236" y="2725421"/>
            <a:ext cx="19281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product_id, name, rating, text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9150" y="3288032"/>
            <a:ext cx="2082800" cy="772160"/>
          </a:xfrm>
          <a:prstGeom prst="roundRect">
            <a:avLst>
              <a:gd name="adj" fmla="val 7401"/>
            </a:avLst>
          </a:prstGeom>
          <a:solidFill>
            <a:srgbClr val="FFFFFF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4560" y="3368039"/>
            <a:ext cx="19281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77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4560" y="3599182"/>
            <a:ext cx="19281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name, email, phone, total_orders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1800" y="3522982"/>
            <a:ext cx="579676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─ ∞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557826" y="3288032"/>
            <a:ext cx="2082800" cy="772160"/>
          </a:xfrm>
          <a:prstGeom prst="roundRect">
            <a:avLst>
              <a:gd name="adj" fmla="val 7401"/>
            </a:avLst>
          </a:prstGeom>
          <a:solidFill>
            <a:srgbClr val="FFFFFF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63236" y="3368039"/>
            <a:ext cx="19281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77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wishlists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63236" y="3599182"/>
            <a:ext cx="19281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customer_id, product_id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4155442"/>
            <a:ext cx="560488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+ 9 more tables: categories, leads, offers, corporate_orders, loyalty_members, campaigns, reminders, newsletter. order_items has foreign keys to orders (cascade delete) and products; customization is JSONB; order_items copies product name and price.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35408" y="1156336"/>
            <a:ext cx="4940617" cy="1870710"/>
          </a:xfrm>
          <a:prstGeom prst="roundRect">
            <a:avLst>
              <a:gd name="adj" fmla="val 3904"/>
            </a:avLst>
          </a:prstGeom>
          <a:solidFill>
            <a:srgbClr val="E7F4ED"/>
          </a:solidFill>
          <a:ln w="6350">
            <a:solidFill>
              <a:srgbClr val="9FD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9713" y="1285239"/>
            <a:ext cx="47709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7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9713" y="1536700"/>
            <a:ext cx="4770968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Razorpay secret only in Vercel env vars · HMAC verification on server · Supabase Auth for admin (JWT in sessionStorage) · RLS: public insert/read where needed, admin-only writes · 10 MB upload limit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35408" y="3134996"/>
            <a:ext cx="4940617" cy="1870710"/>
          </a:xfrm>
          <a:prstGeom prst="roundRect">
            <a:avLst>
              <a:gd name="adj" fmla="val 3904"/>
            </a:avLst>
          </a:prstGeom>
          <a:solidFill>
            <a:srgbClr val="FDF1E8"/>
          </a:solidFill>
          <a:ln w="6350">
            <a:solidFill>
              <a:srgbClr val="EFC9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9713" y="3263900"/>
            <a:ext cx="47709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852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 gaps (and fixes)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9713" y="3515361"/>
            <a:ext cx="4770968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total is computed in the browser; server does not re-price from DB → recompute on server. Orders are publicly selectable for tracking → lookup by ID via a function. CORS is open (*). Public upload policy, no rate limit.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800" y="62890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P. Bharath Kumar · 2400030010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0" y="6289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251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680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r>
              <a:rPr lang="en-US" sz="1680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Technical Challenges &amp; Solutions</a:t>
            </a:r>
            <a:endParaRPr lang="en-US" sz="168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998379"/>
          <a:ext cx="10556240" cy="4907121"/>
        </p:xfrm>
        <a:graphic>
          <a:graphicData uri="http://schemas.openxmlformats.org/drawingml/2006/table">
            <a:tbl>
              <a:tblPr/>
              <a:tblGrid>
                <a:gridCol w="5278120"/>
                <a:gridCol w="5278120"/>
              </a:tblGrid>
              <a:tr h="338138"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b="1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Challenge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b="1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Problem → Implementation → Result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</a:tr>
              <a:tr h="752316"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Secure payments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Browser cannot be trusted → create + verify run in a serverless function; secret in env; HMAC-SHA256 check → order saved only when verified.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227"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 image uploads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Photos must survive checkout → upload to Supabase Storage, keep URL in cart item and order_items; 10 MB client check; local preview fallback.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227"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Cart state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framework → one state object + saveState() to localStorage; cart, wishlist and orders persist across refresh.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227"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 data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Admin edits must show live → Supabase products merged over sample data, cached; CACHE_VERSION clears stale data.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227"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Order tracking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Customers need status without accounts → ORD-id, lookup local then Supabase, 5 status steps updated by admin.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227"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External APIs / CORS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Mobile and CORS issues → /api/supabase-proxy relay; shipping API has a client-side fallback.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227"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RLS errors (42501)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Anonymous checkout blocked by RLS → added scoped public INSERT policies; admin writes need auth.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306"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Responsive + deploy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165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768px breakpoint, hamburger menu; ?v= cache-busting and Vercel headers fix stale JS after deploys.</a:t>
                      </a:r>
                      <a:endParaRPr lang="en-US" sz="11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1784" marR="51784" marT="51784" marB="51784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890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P. Bharath Kumar · 2400030010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058400" y="6289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2800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Interview Questions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156339"/>
            <a:ext cx="3448050" cy="974090"/>
          </a:xfrm>
          <a:prstGeom prst="roundRect">
            <a:avLst>
              <a:gd name="adj" fmla="val 749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80" y="1247142"/>
            <a:ext cx="328594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44880" y="1445264"/>
            <a:ext cx="32859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Why vanilla JS? 2 How is cart state kept? 3 How does customization flow? 4 How is it responsive?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5975" y="2212975"/>
            <a:ext cx="3448050" cy="77597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4880" y="2303779"/>
            <a:ext cx="328594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4880" y="2501900"/>
            <a:ext cx="3285947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Explain the schema. 10 How to optimize product/order queries?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1975" y="1156339"/>
            <a:ext cx="3448050" cy="974090"/>
          </a:xfrm>
          <a:prstGeom prst="roundRect">
            <a:avLst>
              <a:gd name="adj" fmla="val 749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0880" y="1247142"/>
            <a:ext cx="328594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00880" y="1445264"/>
            <a:ext cx="32859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API architecture? 6 How is an order created? 7 Input validation? 8 Handling API failures?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1975" y="2212975"/>
            <a:ext cx="3448050" cy="77597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0880" y="2303779"/>
            <a:ext cx="328594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00880" y="2501900"/>
            <a:ext cx="3285947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Where are secrets stored? 15 How to protect customer data?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27975" y="1156339"/>
            <a:ext cx="3448050" cy="974090"/>
          </a:xfrm>
          <a:prstGeom prst="roundRect">
            <a:avLst>
              <a:gd name="adj" fmla="val 749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6880" y="1247142"/>
            <a:ext cx="328594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56880" y="1445264"/>
            <a:ext cx="32859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Razorpay flow? 12 Preventing fake confirmation? 13 Payment OK but order save fails?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27975" y="2212975"/>
            <a:ext cx="3448050" cy="1172210"/>
          </a:xfrm>
          <a:prstGeom prst="roundRect">
            <a:avLst>
              <a:gd name="adj" fmla="val 623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56880" y="2303779"/>
            <a:ext cx="328594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56880" y="2501900"/>
            <a:ext cx="3285947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dashboard, inventory automation, order notifications, image CDN, search, recommendations, scalable backend, tests, CI/CD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800" y="3540764"/>
            <a:ext cx="10566400" cy="505460"/>
          </a:xfrm>
          <a:prstGeom prst="roundRect">
            <a:avLst>
              <a:gd name="adj" fmla="val 15075"/>
            </a:avLst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3642364"/>
            <a:ext cx="135512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28665" y="3642364"/>
            <a:ext cx="2072735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FB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 |  GitHub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890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P. Bharath Kumar · 2400030010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0" y="6289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381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564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</a:t>
            </a:r>
            <a:r>
              <a:rPr lang="en-US" sz="2564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Admin Panel</a:t>
            </a:r>
            <a:endParaRPr lang="en-US" sz="2564" dirty="0"/>
          </a:p>
        </p:txBody>
      </p:sp>
      <p:sp>
        <p:nvSpPr>
          <p:cNvPr id="3" name="Shape 1"/>
          <p:cNvSpPr/>
          <p:nvPr/>
        </p:nvSpPr>
        <p:spPr>
          <a:xfrm>
            <a:off x="812800" y="1118474"/>
            <a:ext cx="5207000" cy="2480072"/>
          </a:xfrm>
          <a:prstGeom prst="roundRect">
            <a:avLst>
              <a:gd name="adj" fmla="val 2560"/>
            </a:avLst>
          </a:prstGeom>
          <a:solidFill>
            <a:srgbClr val="E8EBF0"/>
          </a:solidFill>
          <a:ln/>
        </p:spPr>
      </p:sp>
      <p:pic>
        <p:nvPicPr>
          <p:cNvPr id="4" name="Image 0" descr="Dashboard: orders, revenue, leads, produ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4882" y="1124824"/>
            <a:ext cx="3582835" cy="24673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975" y="1121649"/>
            <a:ext cx="5200650" cy="2473722"/>
          </a:xfrm>
          <a:prstGeom prst="roundRect">
            <a:avLst>
              <a:gd name="adj" fmla="val 2439"/>
            </a:avLst>
          </a:prstGeom>
          <a:noFill/>
          <a:ln w="6350">
            <a:solidFill>
              <a:srgbClr val="D9DE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3649346"/>
            <a:ext cx="5363210" cy="219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Dashboard: orders, revenue, leads, products</a:t>
            </a:r>
            <a:endParaRPr lang="en-US" sz="1121" dirty="0"/>
          </a:p>
        </p:txBody>
      </p:sp>
      <p:sp>
        <p:nvSpPr>
          <p:cNvPr id="7" name="Shape 4"/>
          <p:cNvSpPr/>
          <p:nvPr/>
        </p:nvSpPr>
        <p:spPr>
          <a:xfrm>
            <a:off x="812800" y="3932002"/>
            <a:ext cx="5207000" cy="1729105"/>
          </a:xfrm>
          <a:prstGeom prst="roundRect">
            <a:avLst>
              <a:gd name="adj" fmla="val 3672"/>
            </a:avLst>
          </a:prstGeom>
          <a:solidFill>
            <a:srgbClr val="E8EBF0"/>
          </a:solidFill>
          <a:ln/>
        </p:spPr>
      </p:sp>
      <p:pic>
        <p:nvPicPr>
          <p:cNvPr id="8" name="Image 1" descr="Order management with status upda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219" y="3938352"/>
            <a:ext cx="3742162" cy="17164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5975" y="3935177"/>
            <a:ext cx="5200650" cy="1722755"/>
          </a:xfrm>
          <a:prstGeom prst="roundRect">
            <a:avLst>
              <a:gd name="adj" fmla="val 3502"/>
            </a:avLst>
          </a:prstGeom>
          <a:noFill/>
          <a:ln w="6350">
            <a:solidFill>
              <a:srgbClr val="D9DE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2800" y="5711906"/>
            <a:ext cx="5363210" cy="218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management with status updates</a:t>
            </a:r>
            <a:endParaRPr lang="en-US" sz="1088" dirty="0"/>
          </a:p>
        </p:txBody>
      </p:sp>
      <p:sp>
        <p:nvSpPr>
          <p:cNvPr id="11" name="Shape 7"/>
          <p:cNvSpPr/>
          <p:nvPr/>
        </p:nvSpPr>
        <p:spPr>
          <a:xfrm>
            <a:off x="993775" y="1121649"/>
            <a:ext cx="10382250" cy="1530032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8080" y="1250553"/>
            <a:ext cx="103758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48080" y="1502017"/>
            <a:ext cx="1037584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admin/index.html behind Supabase Auth (email/password); public site never loads admin JS.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93775" y="2746933"/>
            <a:ext cx="10382250" cy="1530112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48080" y="2875837"/>
            <a:ext cx="103758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tabs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48080" y="3127294"/>
            <a:ext cx="1037584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Dashboard, Products, Orders, Customers, Leads, Loyalty, Offers, Campaigns, Reminders, Corporate, Best Sellers.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93775" y="4372291"/>
            <a:ext cx="10382250" cy="1530032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48080" y="4501201"/>
            <a:ext cx="103758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148080" y="4752659"/>
            <a:ext cx="1037584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CRUD with image upload, order status dropdown, printable invoice, leads CSV export.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12800" y="62890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Appendix · P. Bharath Kumar · 2400030010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0058400" y="6289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 / 7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</a:t>
            </a:r>
            <a:r>
              <a:rPr lang="en-US" sz="2800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Order Tracking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153164"/>
            <a:ext cx="5715000" cy="3302000"/>
          </a:xfrm>
          <a:prstGeom prst="roundRect">
            <a:avLst>
              <a:gd name="adj" fmla="val 1923"/>
            </a:avLst>
          </a:prstGeom>
          <a:solidFill>
            <a:srgbClr val="E8EBF0"/>
          </a:solidFill>
          <a:ln/>
        </p:spPr>
      </p:sp>
      <p:pic>
        <p:nvPicPr>
          <p:cNvPr id="4" name="Image 0" descr="Track order by Order 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1422306"/>
            <a:ext cx="5702300" cy="27637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975" y="1156339"/>
            <a:ext cx="5708650" cy="3295650"/>
          </a:xfrm>
          <a:prstGeom prst="roundRect">
            <a:avLst>
              <a:gd name="adj" fmla="val 1830"/>
            </a:avLst>
          </a:prstGeom>
          <a:noFill/>
          <a:ln w="6350">
            <a:solidFill>
              <a:srgbClr val="D9DE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505964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order by Order ID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708775" y="1156339"/>
            <a:ext cx="4667250" cy="1123077"/>
          </a:xfrm>
          <a:prstGeom prst="roundRect">
            <a:avLst>
              <a:gd name="adj" fmla="val 650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63080" y="1285242"/>
            <a:ext cx="44893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ID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63080" y="1536700"/>
            <a:ext cx="4489399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ORD- + Date.now() in base-36, generated when payment is verified.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708775" y="2374664"/>
            <a:ext cx="4667250" cy="1123156"/>
          </a:xfrm>
          <a:prstGeom prst="roundRect">
            <a:avLst>
              <a:gd name="adj" fmla="val 650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63080" y="2503568"/>
            <a:ext cx="44893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Lookup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63080" y="2755026"/>
            <a:ext cx="4489399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localStorage first, then Supabase orders + order_items.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08775" y="3593071"/>
            <a:ext cx="4667250" cy="1123077"/>
          </a:xfrm>
          <a:prstGeom prst="roundRect">
            <a:avLst>
              <a:gd name="adj" fmla="val 650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63080" y="3721974"/>
            <a:ext cx="44893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steps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63080" y="3973432"/>
            <a:ext cx="4489399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Placed → Processing → Production → Shipped → Delivered. Admin changes the status; the tracker renders it.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487172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Trade-off: tracking needs no login, but ID lookup relies on a publicly readable orders table (see A5).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2800" y="62890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Appendix · P. Bharath Kumar · 2400030010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0" y="6289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 / 7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</a:t>
            </a:r>
            <a:r>
              <a:rPr lang="en-US" sz="2800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Data Pipeline &amp; Resilience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9150" y="1159514"/>
            <a:ext cx="2343150" cy="797560"/>
          </a:xfrm>
          <a:prstGeom prst="roundRect">
            <a:avLst>
              <a:gd name="adj" fmla="val 7166"/>
            </a:avLst>
          </a:prstGeom>
          <a:solidFill>
            <a:srgbClr val="FFFF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4560" y="1252221"/>
            <a:ext cx="2196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load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24560" y="1483364"/>
            <a:ext cx="2196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from localStorage cache or data.js samples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32150" y="138049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56000" y="1159514"/>
            <a:ext cx="2343150" cy="797560"/>
          </a:xfrm>
          <a:prstGeom prst="roundRect">
            <a:avLst>
              <a:gd name="adj" fmla="val 7166"/>
            </a:avLst>
          </a:prstGeom>
          <a:solidFill>
            <a:srgbClr val="FFFFFF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61410" y="1252221"/>
            <a:ext cx="2196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852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 fetch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61410" y="1483364"/>
            <a:ext cx="2196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loadProductsFromDB() reads Supabase products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69000" y="138049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92850" y="1159514"/>
            <a:ext cx="2343150" cy="797560"/>
          </a:xfrm>
          <a:prstGeom prst="roundRect">
            <a:avLst>
              <a:gd name="adj" fmla="val 7166"/>
            </a:avLst>
          </a:prstGeom>
          <a:solidFill>
            <a:srgbClr val="FFFFFF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8260" y="1252221"/>
            <a:ext cx="2196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77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98260" y="1483364"/>
            <a:ext cx="2196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 overrides sample IDs; result cached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05850" y="138049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029700" y="1159514"/>
            <a:ext cx="2343150" cy="797560"/>
          </a:xfrm>
          <a:prstGeom prst="roundRect">
            <a:avLst>
              <a:gd name="adj" fmla="val 7166"/>
            </a:avLst>
          </a:prstGeom>
          <a:solidFill>
            <a:srgbClr val="FFFF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35110" y="1252221"/>
            <a:ext cx="2196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renderAll()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35110" y="1483364"/>
            <a:ext cx="2196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Categories, products, cart, reviews, deal, QR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975" y="2118996"/>
            <a:ext cx="3448050" cy="1103630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0280" y="2247900"/>
            <a:ext cx="32336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unreachable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0280" y="2499364"/>
            <a:ext cx="3233623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Falls back to sample products; orders saved locally; tracking still works from localStorage.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71975" y="2118996"/>
            <a:ext cx="3448050" cy="1103630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247900"/>
            <a:ext cx="32336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fails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2499364"/>
            <a:ext cx="3233623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 error is caught and logged; the order still completes.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27975" y="2118996"/>
            <a:ext cx="3448050" cy="1103630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82280" y="2247900"/>
            <a:ext cx="32336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API fails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82280" y="2499364"/>
            <a:ext cx="3233623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Client-side estimate uses the same zone logic.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5975" y="3381375"/>
            <a:ext cx="10560050" cy="2520950"/>
          </a:xfrm>
          <a:prstGeom prst="roundRect">
            <a:avLst>
              <a:gd name="adj" fmla="val 289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0280" y="3510279"/>
            <a:ext cx="105589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design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0280" y="3761742"/>
            <a:ext cx="10558983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small store should keep working when a free-tier service is slow. The cost is two sources of truth (localStorage and Supabase), so reconciliation is manual today.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62890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Appendix · P. Bharath Kumar · 2400030010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0" y="6289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 / 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</a:t>
            </a:r>
            <a:r>
              <a:rPr lang="en-US" sz="2800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Payment Edge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156339"/>
            <a:ext cx="3439557" cy="169799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0280" y="1285242"/>
            <a:ext cx="32248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 payment confirmation?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0280" y="1536700"/>
            <a:ext cx="3224875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sends order_id, payment_id, signature. Server recomputes HMAC-SHA256 with the secret, which never leaves Vercel env. Mismatch → 400, order not saved.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76182" y="1156339"/>
            <a:ext cx="3439636" cy="169799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487" y="1285242"/>
            <a:ext cx="32249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but order save fails?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30487" y="1536700"/>
            <a:ext cx="3224957" cy="1214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Money is captured at Razorpay. Code retries by saving order and items separately, then keeps a local copy. Reconcile via payment_id in Razorpay dashboard. Improvement: Razorpay webhook.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36468" y="1156339"/>
            <a:ext cx="3439557" cy="169799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0774" y="1285242"/>
            <a:ext cx="32248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closes checkout?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90774" y="1536700"/>
            <a:ext cx="3224875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ondismiss shows “Payment cancelled”. Cart is untouched; Razorpay order created but unpaid.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975" y="3013075"/>
            <a:ext cx="10560050" cy="2889250"/>
          </a:xfrm>
          <a:prstGeom prst="roundRect">
            <a:avLst>
              <a:gd name="adj" fmla="val 2527"/>
            </a:avLst>
          </a:prstGeom>
          <a:solidFill>
            <a:srgbClr val="FDF1E8"/>
          </a:solidFill>
          <a:ln w="6350">
            <a:solidFill>
              <a:srgbClr val="EFC9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0280" y="3141979"/>
            <a:ext cx="105589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852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limitation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70280" y="3393442"/>
            <a:ext cx="10558983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/create trusts the amount from the browser. Fix: recompute total on the server from Supabase prices and shipping zone.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890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Appendix · P. Bharath Kumar · 2400030010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89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 / 7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A5</a:t>
            </a:r>
            <a:r>
              <a:rPr lang="en-US" sz="2800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Security Hardening Roadmap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163324"/>
          <a:ext cx="10556240" cy="419608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Gap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Fix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Client-supplied payment amount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Recompute total from DB prices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/api/razorpay-order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Orders readable by anyone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Lookup by ID + phone via a restricted function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Supabase RLS / RPC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CORS set to *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Allow only the site domain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/api functions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Anyone can upload to the bucket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Bucket already limits type and size; add rate limiting or signed uploads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Supabase Storage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Payment/order reconcile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Razorpay webhook for captured payments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New serverless function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Abuse of public inserts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Rate limiting, CAPTCHA on forms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Vercel / forms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890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Appendix · P. Bharath Kumar · 2400030010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058400" y="6289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A5 / 7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A6</a:t>
            </a:r>
            <a:r>
              <a:rPr lang="en-US" sz="2800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Deployment &amp;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156339"/>
            <a:ext cx="5219700" cy="1103630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0280" y="1285242"/>
            <a:ext cx="50584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0280" y="1536700"/>
            <a:ext cx="5058423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push → Vercel auto-deploy. Static files on CDN; /api functions run serverless. Env vars: RAZORPAY_KEY_ID, RAZORPAY_KEY_SECRET.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56325" y="1156339"/>
            <a:ext cx="5219700" cy="1103630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0630" y="1285242"/>
            <a:ext cx="50584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10630" y="1536700"/>
            <a:ext cx="5058423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vercel.json: HTML no-cache; JS/CSS must-revalidate. ?v= on script URLs and CACHE_VERSION clear stale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5975" y="2418717"/>
            <a:ext cx="5219700" cy="90551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0280" y="2547627"/>
            <a:ext cx="50584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 performance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0280" y="2799085"/>
            <a:ext cx="5058423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Lazy-loaded images, IntersectionObserver for scroll animations, no framework bundle.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56325" y="2418717"/>
            <a:ext cx="5219700" cy="90551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0630" y="2547627"/>
            <a:ext cx="50584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10630" y="2799085"/>
            <a:ext cx="5058423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sitemap.xml, robots.txt, Open Graph tags and canonical URL.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3479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load-test numbers are claimed; the free-tier database is the likely bottleneck as traffic grows.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890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Appendix · P. Bharath Kumar · 2400030010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89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A6 / 7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A7</a:t>
            </a:r>
            <a:r>
              <a:rPr lang="en-US" sz="2800" b="1" i="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Project at a Glance &amp; Demo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156333"/>
            <a:ext cx="2559050" cy="943610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7280" y="1272542"/>
            <a:ext cx="239643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7280" y="1770385"/>
            <a:ext cx="23964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 tables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82975" y="1156333"/>
            <a:ext cx="2559050" cy="943610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4280" y="1272542"/>
            <a:ext cx="239643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564280" y="1770385"/>
            <a:ext cx="23964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Serverless endpoints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49975" y="1156333"/>
            <a:ext cx="2559050" cy="943610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1280" y="1272542"/>
            <a:ext cx="239643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1,863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31280" y="1770385"/>
            <a:ext cx="23964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Lines in app.js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16975" y="1156333"/>
            <a:ext cx="2559050" cy="943610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98281" y="1272542"/>
            <a:ext cx="239643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4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1,145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898281" y="1770385"/>
            <a:ext cx="23964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Lines in admin.js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975" y="2258702"/>
            <a:ext cx="10560050" cy="1742440"/>
          </a:xfrm>
          <a:prstGeom prst="roundRect">
            <a:avLst>
              <a:gd name="adj" fmla="val 419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0280" y="2387600"/>
            <a:ext cx="105589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script (5 min)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70280" y="2639058"/>
            <a:ext cx="10558983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Browse and search products · 2 Open a customizable product, upload a photo, add text · 3 Add to cart, enter pincode, see shipping + GST · 4 Razorpay checkout or WhatsApp order · 5 Track by Order ID · 6 Admin: update status, print invoice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975" y="4159883"/>
            <a:ext cx="10560050" cy="1742440"/>
          </a:xfrm>
          <a:prstGeom prst="roundRect">
            <a:avLst>
              <a:gd name="adj" fmla="val 419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0280" y="4288792"/>
            <a:ext cx="105589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message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0280" y="4540250"/>
            <a:ext cx="10558983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working store: payments verified on the server, data in PostgreSQL with RLS, and known gaps I can explain and fix.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890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Sasi Arts · Appendix · P. Bharath Kumar · 2400030010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289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A7 /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 Arts – Project Case Study (P. Bharath Kumar)">
  <a:themeElements>
    <a:clrScheme name="Sasi Arts – Project Case Study (P. Bharath Kumar)">
      <a:dk1>
        <a:srgbClr val="161B22"/>
      </a:dk1>
      <a:lt1>
        <a:srgbClr val="F6F7F9"/>
      </a:lt1>
      <a:dk2>
        <a:srgbClr val="4E5258"/>
      </a:dk2>
      <a:lt2>
        <a:srgbClr val="E0E1E4"/>
      </a:lt2>
      <a:accent1>
        <a:srgbClr val="2457D6"/>
      </a:accent1>
      <a:accent2>
        <a:srgbClr val="B8520A"/>
      </a:accent2>
      <a:accent3>
        <a:srgbClr val="17714A"/>
      </a:accent3>
      <a:accent4>
        <a:srgbClr val="8FB0FF"/>
      </a:accent4>
      <a:accent5>
        <a:srgbClr val="586272"/>
      </a:accent5>
      <a:accent6>
        <a:srgbClr val="D9DEE5"/>
      </a:accent6>
      <a:hlink>
        <a:srgbClr val="0563C1"/>
      </a:hlink>
      <a:folHlink>
        <a:srgbClr val="954F72"/>
      </a:folHlink>
    </a:clrScheme>
    <a:fontScheme name="Sasi Arts – Project Case Study (P. Bharath Kumar)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Sasi Arts – Project Case Study (P. Bharath Kumar)</dc:title>
  <dc:subject/>
  <dc:creator/>
  <cp:lastModifiedBy/>
  <cp:revision>1</cp:revision>
  <dcterms:created xsi:type="dcterms:W3CDTF">2026-10-08T04:02:33Z</dcterms:created>
  <dcterms:modified xsi:type="dcterms:W3CDTF">2026-10-08T04:02:33Z</dcterms:modified>
</cp:coreProperties>
</file>